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57" r:id="rId4"/>
    <p:sldId id="258" r:id="rId5"/>
    <p:sldId id="272" r:id="rId6"/>
    <p:sldId id="259" r:id="rId7"/>
    <p:sldId id="260" r:id="rId8"/>
    <p:sldId id="261" r:id="rId9"/>
    <p:sldId id="273" r:id="rId10"/>
    <p:sldId id="262" r:id="rId11"/>
    <p:sldId id="263" r:id="rId12"/>
    <p:sldId id="264" r:id="rId13"/>
    <p:sldId id="274" r:id="rId14"/>
    <p:sldId id="265" r:id="rId15"/>
    <p:sldId id="266" r:id="rId16"/>
    <p:sldId id="267" r:id="rId17"/>
    <p:sldId id="268" r:id="rId18"/>
    <p:sldId id="275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cenario 1: happy path" id="{F7A1D0A7-7520-4D39-A381-0D5EDF6B8C1F}">
          <p14:sldIdLst>
            <p14:sldId id="271"/>
            <p14:sldId id="256"/>
            <p14:sldId id="257"/>
            <p14:sldId id="258"/>
          </p14:sldIdLst>
        </p14:section>
        <p14:section name="scenario 2: diff nhs" id="{FBD97652-DE48-423B-8BFD-CA034C8D4596}">
          <p14:sldIdLst>
            <p14:sldId id="272"/>
            <p14:sldId id="259"/>
            <p14:sldId id="260"/>
            <p14:sldId id="261"/>
          </p14:sldIdLst>
        </p14:section>
        <p14:section name="scanerio 3: no match" id="{6D4E52EE-CDEF-4E47-B1C1-BB38D2D6D517}">
          <p14:sldIdLst>
            <p14:sldId id="273"/>
            <p14:sldId id="262"/>
            <p14:sldId id="263"/>
            <p14:sldId id="264"/>
          </p14:sldIdLst>
        </p14:section>
        <p14:section name="scenario 4: movement" id="{BDD46FD1-DC1A-4665-BB57-E868ABD219C2}">
          <p14:sldIdLst>
            <p14:sldId id="274"/>
            <p14:sldId id="265"/>
            <p14:sldId id="266"/>
            <p14:sldId id="267"/>
            <p14:sldId id="268"/>
          </p14:sldIdLst>
        </p14:section>
        <p14:section name="allocation" id="{3E0386A7-3538-4454-9402-A029AE6C79BC}">
          <p14:sldIdLst>
            <p14:sldId id="275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67A269-4B22-48B9-82AB-8B4482C96DFE}" v="71" dt="2025-11-07T14:26:15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0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E4B7-E268-FF67-C33B-6560589B9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45FA9-5B98-F13A-DBB3-9D5110A97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A7EE5-ABA3-B8BF-2A8C-1E4B6972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7438F-A5C2-DC7E-C46E-468677245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58610-881A-56B3-61FF-F350BD9A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26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E3E8-C38B-1DAA-0A4C-29C0B640F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3160-39E2-7B68-8D53-D1578702A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EC0FD-4113-0C44-8B52-B819DD04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87BDB-2E60-D3D4-BC17-12223859F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49FD2-C11E-1D65-37DE-9B6BA32F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6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0009-D579-0A89-1854-A6764C91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CC0EF-A4EF-9343-169B-43150B6DB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5209F-EC39-01DD-0847-781DAB28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FB8BD-F156-D155-3BE1-A6A8C7E7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C5D55-1ABF-E682-83B9-4CD5A09CD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91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0F9B-9A58-39F1-CE04-DD833AB8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43458-66F2-4F6B-773C-43B0798A6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60D44-5EE3-C448-D5B0-BC09EB44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35BD5-65F4-9CD2-735D-F089A9E7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61FAB-72E8-4B3A-E57D-25E115541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F5A8D-7ED6-908E-8F1D-DEB799C3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53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1EF2-FABA-99C6-8BBC-D3B63CEF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EFD43-D5D4-589C-FA29-072A152DC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45D9A-49A7-D016-E372-A2F1C137F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B9F84-DD78-9806-1955-8ECE5C4C6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D82153-BA9F-AC74-C862-E42958613A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5E02DF-2608-9338-B49D-D169982C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CB06C-7094-DA14-515B-D1E3964F8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73849D-CE2C-ADA9-235D-5C3DA493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04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3D45-3DA3-D3A1-B3A4-4B66324B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68F67E-C052-3E8B-8750-10C19FE5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D1C49-8B75-C7CB-E2FF-6DA52090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8E9A2-5B93-07DB-6E28-2718A737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2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796AB7-49AD-24EA-AE1D-B7589F30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E8E27-8FE3-44BA-FAC0-48C2E77C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668EB-86F8-2A4A-A9D7-83D5C3730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8C60-6159-6215-B770-B9FF302B6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74CA0-2B44-218C-9A93-7FA1B7D08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5247B-7B7A-268A-29BD-C5A048275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6B577-7773-3BD6-642B-B3F06F40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30436-5763-4600-2F57-F569AF1A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02C34-8D20-0702-F69D-A5A2C490E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17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FF36-B04B-9D89-657E-5B8C4399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8EF9F-9771-ED9A-2286-5E8762E95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97E8B-4000-8F10-AFE5-0EFC9CD6A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59F81-B067-A0F0-D131-06B65B47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A973-48B9-6439-6624-3195A26E3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124BA-462E-96A3-33E7-B645EE4B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94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318C-291E-C910-0A38-017D407FB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5DB64-0651-646B-CBB4-F25298947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4F47D-D885-5305-1D30-7131FF24C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C7CC2-E4F0-65A5-A825-C3ABB119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EBB0-C144-142F-B96B-1348B476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76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D8EFA8-4AD6-78F3-3619-20DF6A9E49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D9DF0-377F-205C-DF0B-D99C4B769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CB54B-F6DE-5776-3C62-1AEBA308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B65E9-C435-2565-ADF9-4962F019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1CC1B-A295-67CE-8C86-E09D30E9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555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2B614-A1B4-F0E7-FCE8-7CB107C45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3D27B-F44E-ECD4-0159-4AE8364B8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CC7B-B894-C2DE-97E9-B17BE5AFC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8027E-928A-437D-B518-E1E85F21DC3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9EE34-B78D-19FA-2F93-5B57C951E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FA809-DE90-B98A-12C1-E0AE64BF8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9928BA-F7C0-47BA-B5D9-D340A90B9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90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C4FCF-A1A1-56D9-6643-9B062255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149CF1-8000-20B9-285E-5F09EA7F9377}"/>
              </a:ext>
            </a:extLst>
          </p:cNvPr>
          <p:cNvSpPr txBox="1"/>
          <p:nvPr/>
        </p:nvSpPr>
        <p:spPr>
          <a:xfrm>
            <a:off x="174661" y="256854"/>
            <a:ext cx="3473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1" dirty="0">
                <a:solidFill>
                  <a:schemeClr val="bg1"/>
                </a:solidFill>
              </a:rPr>
              <a:t>Scenario 1: simple path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A2F804-8CFD-1534-78E0-AE2E763C52DC}"/>
              </a:ext>
            </a:extLst>
          </p:cNvPr>
          <p:cNvCxnSpPr>
            <a:cxnSpLocks/>
          </p:cNvCxnSpPr>
          <p:nvPr/>
        </p:nvCxnSpPr>
        <p:spPr>
          <a:xfrm>
            <a:off x="260386" y="724084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827050-C5D2-BA30-E4CE-EE5C1D01F86C}"/>
              </a:ext>
            </a:extLst>
          </p:cNvPr>
          <p:cNvSpPr txBox="1"/>
          <p:nvPr/>
        </p:nvSpPr>
        <p:spPr>
          <a:xfrm>
            <a:off x="850936" y="1104579"/>
            <a:ext cx="93027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scenario shows the simplest operating scenario.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 this scenario a </a:t>
            </a:r>
            <a:r>
              <a:rPr lang="en-GB" b="1" dirty="0">
                <a:solidFill>
                  <a:schemeClr val="bg1"/>
                </a:solidFill>
              </a:rPr>
              <a:t>patient</a:t>
            </a:r>
            <a:r>
              <a:rPr lang="en-GB" dirty="0">
                <a:solidFill>
                  <a:schemeClr val="bg1"/>
                </a:solidFill>
              </a:rPr>
              <a:t> record is received, and added to the relevant </a:t>
            </a:r>
            <a:r>
              <a:rPr lang="en-GB" b="1" dirty="0">
                <a:solidFill>
                  <a:schemeClr val="bg1"/>
                </a:solidFill>
              </a:rPr>
              <a:t>patient </a:t>
            </a:r>
            <a:r>
              <a:rPr lang="en-GB" dirty="0">
                <a:solidFill>
                  <a:schemeClr val="bg1"/>
                </a:solidFill>
              </a:rPr>
              <a:t>table.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Whilst a PDS trace is ongoing, a </a:t>
            </a:r>
            <a:r>
              <a:rPr lang="en-GB" b="1" dirty="0">
                <a:solidFill>
                  <a:schemeClr val="bg1"/>
                </a:solidFill>
              </a:rPr>
              <a:t>person-stub</a:t>
            </a:r>
            <a:r>
              <a:rPr lang="en-GB" dirty="0">
                <a:solidFill>
                  <a:schemeClr val="bg1"/>
                </a:solidFill>
              </a:rPr>
              <a:t> record is generated using information from the </a:t>
            </a:r>
            <a:r>
              <a:rPr lang="en-GB" b="1" dirty="0">
                <a:solidFill>
                  <a:schemeClr val="bg1"/>
                </a:solidFill>
              </a:rPr>
              <a:t>patient </a:t>
            </a:r>
            <a:r>
              <a:rPr lang="en-GB" dirty="0">
                <a:solidFill>
                  <a:schemeClr val="bg1"/>
                </a:solidFill>
              </a:rPr>
              <a:t>table, and a bridging </a:t>
            </a:r>
            <a:r>
              <a:rPr lang="en-GB" b="1" dirty="0">
                <a:solidFill>
                  <a:schemeClr val="bg1"/>
                </a:solidFill>
              </a:rPr>
              <a:t>patient-person</a:t>
            </a:r>
            <a:r>
              <a:rPr lang="en-GB" dirty="0">
                <a:solidFill>
                  <a:schemeClr val="bg1"/>
                </a:solidFill>
              </a:rPr>
              <a:t> record is added to link this information together.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Once the PDS trace is returned, it is used to add a new </a:t>
            </a:r>
            <a:r>
              <a:rPr lang="en-GB" b="1" dirty="0">
                <a:solidFill>
                  <a:schemeClr val="bg1"/>
                </a:solidFill>
              </a:rPr>
              <a:t>person record-version </a:t>
            </a:r>
            <a:r>
              <a:rPr lang="en-GB" dirty="0">
                <a:solidFill>
                  <a:schemeClr val="bg1"/>
                </a:solidFill>
              </a:rPr>
              <a:t>which is then linked to the patient record.</a:t>
            </a:r>
          </a:p>
        </p:txBody>
      </p:sp>
    </p:spTree>
    <p:extLst>
      <p:ext uri="{BB962C8B-B14F-4D97-AF65-F5344CB8AC3E}">
        <p14:creationId xmlns:p14="http://schemas.microsoft.com/office/powerpoint/2010/main" val="2786409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BB0069-C7B8-F4B4-9D57-3FA436C3D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960320"/>
              </p:ext>
            </p:extLst>
          </p:nvPr>
        </p:nvGraphicFramePr>
        <p:xfrm>
          <a:off x="1160978" y="1502578"/>
          <a:ext cx="987004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4B1055-77CE-7555-88BC-5CA7D5D61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621433"/>
              </p:ext>
            </p:extLst>
          </p:nvPr>
        </p:nvGraphicFramePr>
        <p:xfrm>
          <a:off x="1160980" y="3254364"/>
          <a:ext cx="987004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93D1C2-4ABD-0E3C-5071-74B1DAB8A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576235"/>
              </p:ext>
            </p:extLst>
          </p:nvPr>
        </p:nvGraphicFramePr>
        <p:xfrm>
          <a:off x="1160980" y="5071934"/>
          <a:ext cx="9870040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540683F-1BA3-BE90-8CAF-9F090A30D301}"/>
              </a:ext>
            </a:extLst>
          </p:cNvPr>
          <p:cNvSpPr txBox="1"/>
          <p:nvPr/>
        </p:nvSpPr>
        <p:spPr>
          <a:xfrm>
            <a:off x="174661" y="256854"/>
            <a:ext cx="2648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1: simple path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05E96C-780C-0207-4227-80E3106E3850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63F408B-738C-A2A0-FB1E-E6382DB97167}"/>
              </a:ext>
            </a:extLst>
          </p:cNvPr>
          <p:cNvSpPr txBox="1"/>
          <p:nvPr/>
        </p:nvSpPr>
        <p:spPr>
          <a:xfrm>
            <a:off x="565186" y="1044386"/>
            <a:ext cx="3388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Initial </a:t>
            </a:r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record added to continuum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59C06D-4C16-9D06-EEBD-14A6065FA824}"/>
              </a:ext>
            </a:extLst>
          </p:cNvPr>
          <p:cNvSpPr txBox="1"/>
          <p:nvPr/>
        </p:nvSpPr>
        <p:spPr>
          <a:xfrm>
            <a:off x="565186" y="2856387"/>
            <a:ext cx="600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Initial </a:t>
            </a:r>
            <a:r>
              <a:rPr lang="en-GB" sz="1400" b="1" dirty="0">
                <a:solidFill>
                  <a:schemeClr val="bg1"/>
                </a:solidFill>
              </a:rPr>
              <a:t>person stub </a:t>
            </a:r>
            <a:r>
              <a:rPr lang="en-GB" sz="1400" dirty="0">
                <a:solidFill>
                  <a:schemeClr val="bg1"/>
                </a:solidFill>
              </a:rPr>
              <a:t>record added, based on information from </a:t>
            </a:r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1361FD-9644-505F-4410-D4C4DB326714}"/>
              </a:ext>
            </a:extLst>
          </p:cNvPr>
          <p:cNvSpPr txBox="1"/>
          <p:nvPr/>
        </p:nvSpPr>
        <p:spPr>
          <a:xfrm>
            <a:off x="565186" y="4583757"/>
            <a:ext cx="6301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3E1CA5-EF8D-1319-0DA9-0179452B18B2}"/>
              </a:ext>
            </a:extLst>
          </p:cNvPr>
          <p:cNvSpPr/>
          <p:nvPr/>
        </p:nvSpPr>
        <p:spPr>
          <a:xfrm>
            <a:off x="1007089" y="3693358"/>
            <a:ext cx="307777" cy="3077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92219F-027C-4078-6765-C0530D52AE37}"/>
              </a:ext>
            </a:extLst>
          </p:cNvPr>
          <p:cNvSpPr/>
          <p:nvPr/>
        </p:nvSpPr>
        <p:spPr>
          <a:xfrm>
            <a:off x="1007089" y="5505837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46C3A47-9A63-E44C-2080-BA7C1BF52E1D}"/>
              </a:ext>
            </a:extLst>
          </p:cNvPr>
          <p:cNvSpPr/>
          <p:nvPr/>
        </p:nvSpPr>
        <p:spPr>
          <a:xfrm>
            <a:off x="1006017" y="1912748"/>
            <a:ext cx="307777" cy="307777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52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5D84D-DDD8-74E6-C65E-36FBB00B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9592E1-7E3D-F0E3-0591-FC067ACA9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434595"/>
              </p:ext>
            </p:extLst>
          </p:nvPr>
        </p:nvGraphicFramePr>
        <p:xfrm>
          <a:off x="1160978" y="1502578"/>
          <a:ext cx="987004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520D33-C97C-4A3A-07CD-5F7CA6FE0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931170"/>
              </p:ext>
            </p:extLst>
          </p:nvPr>
        </p:nvGraphicFramePr>
        <p:xfrm>
          <a:off x="1160980" y="3254364"/>
          <a:ext cx="987004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5647C6-8A3B-A760-DE76-A2746ABD8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99654"/>
              </p:ext>
            </p:extLst>
          </p:nvPr>
        </p:nvGraphicFramePr>
        <p:xfrm>
          <a:off x="1160980" y="5071934"/>
          <a:ext cx="987004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14:00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E23EAA-85BD-DA7C-4C13-A5690330BD10}"/>
              </a:ext>
            </a:extLst>
          </p:cNvPr>
          <p:cNvSpPr txBox="1"/>
          <p:nvPr/>
        </p:nvSpPr>
        <p:spPr>
          <a:xfrm>
            <a:off x="174661" y="256854"/>
            <a:ext cx="2648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1: simple path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E0B614-9173-7F58-8175-78D09A166750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959543-058E-5D4F-CFEA-0569889C824B}"/>
              </a:ext>
            </a:extLst>
          </p:cNvPr>
          <p:cNvSpPr txBox="1"/>
          <p:nvPr/>
        </p:nvSpPr>
        <p:spPr>
          <a:xfrm>
            <a:off x="565186" y="1044386"/>
            <a:ext cx="344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table unchanged by PDS response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19CAF6-5CD1-7DC4-B22A-3FC111EBFBFD}"/>
              </a:ext>
            </a:extLst>
          </p:cNvPr>
          <p:cNvSpPr txBox="1"/>
          <p:nvPr/>
        </p:nvSpPr>
        <p:spPr>
          <a:xfrm>
            <a:off x="565186" y="2856387"/>
            <a:ext cx="4216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PDS response processed and added to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F9F42D-D4E3-52A3-0BEE-AAE600C26C84}"/>
              </a:ext>
            </a:extLst>
          </p:cNvPr>
          <p:cNvSpPr txBox="1"/>
          <p:nvPr/>
        </p:nvSpPr>
        <p:spPr>
          <a:xfrm>
            <a:off x="565186" y="4583757"/>
            <a:ext cx="6662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new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207948-0B2B-D195-BFF4-540F4FF2D45B}"/>
              </a:ext>
            </a:extLst>
          </p:cNvPr>
          <p:cNvSpPr/>
          <p:nvPr/>
        </p:nvSpPr>
        <p:spPr>
          <a:xfrm>
            <a:off x="1007089" y="4031892"/>
            <a:ext cx="307777" cy="3077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57CABB-9951-F342-097D-E77FD40B34A1}"/>
              </a:ext>
            </a:extLst>
          </p:cNvPr>
          <p:cNvSpPr/>
          <p:nvPr/>
        </p:nvSpPr>
        <p:spPr>
          <a:xfrm>
            <a:off x="1007089" y="5844371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FBA6602C-64BF-994A-0E47-15079C108078}"/>
              </a:ext>
            </a:extLst>
          </p:cNvPr>
          <p:cNvSpPr/>
          <p:nvPr/>
        </p:nvSpPr>
        <p:spPr>
          <a:xfrm flipH="1">
            <a:off x="10744200" y="5786449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7CF61A8E-DDD9-CD58-17C3-89B68779C826}"/>
              </a:ext>
            </a:extLst>
          </p:cNvPr>
          <p:cNvSpPr/>
          <p:nvPr/>
        </p:nvSpPr>
        <p:spPr>
          <a:xfrm flipH="1">
            <a:off x="10744200" y="3973970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</p:spTree>
    <p:extLst>
      <p:ext uri="{BB962C8B-B14F-4D97-AF65-F5344CB8AC3E}">
        <p14:creationId xmlns:p14="http://schemas.microsoft.com/office/powerpoint/2010/main" val="355434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98ED0-3F11-8901-F270-DA30798D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820595-B605-7905-3922-D54007055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863370"/>
              </p:ext>
            </p:extLst>
          </p:nvPr>
        </p:nvGraphicFramePr>
        <p:xfrm>
          <a:off x="1160978" y="1502578"/>
          <a:ext cx="987004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ICB X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F00001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REC654987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2025-04-02 15:00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52312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E67773-211C-947A-F946-FC06E1008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966325"/>
              </p:ext>
            </p:extLst>
          </p:nvPr>
        </p:nvGraphicFramePr>
        <p:xfrm>
          <a:off x="1160980" y="3254364"/>
          <a:ext cx="987004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9D39D0-4567-3D46-818E-E4DBC99AA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764294"/>
              </p:ext>
            </p:extLst>
          </p:nvPr>
        </p:nvGraphicFramePr>
        <p:xfrm>
          <a:off x="1160980" y="5071934"/>
          <a:ext cx="987004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REC987654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14:00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REC654987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2025-04-02 15:00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09876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E7576E-DFD9-5B61-D79C-57B5F5494967}"/>
              </a:ext>
            </a:extLst>
          </p:cNvPr>
          <p:cNvSpPr txBox="1"/>
          <p:nvPr/>
        </p:nvSpPr>
        <p:spPr>
          <a:xfrm>
            <a:off x="174661" y="256854"/>
            <a:ext cx="2648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1: simple path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1A7DE4-F4E1-E48A-F3E8-1A476D0978D0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ABAF46A-CFE6-65DD-ED6C-FAB381390E8F}"/>
              </a:ext>
            </a:extLst>
          </p:cNvPr>
          <p:cNvSpPr txBox="1"/>
          <p:nvPr/>
        </p:nvSpPr>
        <p:spPr>
          <a:xfrm>
            <a:off x="565186" y="1044386"/>
            <a:ext cx="55129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table then receives a new record-version for the same patient: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42E270-F6B9-A58B-7F3A-561EEAAF6FFA}"/>
              </a:ext>
            </a:extLst>
          </p:cNvPr>
          <p:cNvSpPr txBox="1"/>
          <p:nvPr/>
        </p:nvSpPr>
        <p:spPr>
          <a:xfrm>
            <a:off x="565186" y="2856387"/>
            <a:ext cx="8761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PDS response exists for same </a:t>
            </a:r>
            <a:r>
              <a:rPr lang="en-GB" sz="1400" b="1" dirty="0">
                <a:solidFill>
                  <a:schemeClr val="bg1"/>
                </a:solidFill>
              </a:rPr>
              <a:t>patient ID </a:t>
            </a:r>
            <a:r>
              <a:rPr lang="en-GB" sz="1400" dirty="0">
                <a:solidFill>
                  <a:schemeClr val="bg1"/>
                </a:solidFill>
              </a:rPr>
              <a:t>value, so no new </a:t>
            </a:r>
            <a:r>
              <a:rPr lang="en-GB" sz="1400" b="1" dirty="0">
                <a:solidFill>
                  <a:schemeClr val="bg1"/>
                </a:solidFill>
              </a:rPr>
              <a:t>person stub </a:t>
            </a:r>
            <a:r>
              <a:rPr lang="en-GB" sz="1400" dirty="0">
                <a:solidFill>
                  <a:schemeClr val="bg1"/>
                </a:solidFill>
              </a:rPr>
              <a:t>created from new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record-version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54E768-233E-4A82-F203-E758D2DEFC4E}"/>
              </a:ext>
            </a:extLst>
          </p:cNvPr>
          <p:cNvSpPr txBox="1"/>
          <p:nvPr/>
        </p:nvSpPr>
        <p:spPr>
          <a:xfrm>
            <a:off x="565186" y="4583757"/>
            <a:ext cx="6662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new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7FA991-E571-8B0E-0DFD-C334421ACFC9}"/>
              </a:ext>
            </a:extLst>
          </p:cNvPr>
          <p:cNvSpPr/>
          <p:nvPr/>
        </p:nvSpPr>
        <p:spPr>
          <a:xfrm>
            <a:off x="1007088" y="6223785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B9BDCFB-0919-7D59-428D-8ECBF95D4EB5}"/>
              </a:ext>
            </a:extLst>
          </p:cNvPr>
          <p:cNvSpPr/>
          <p:nvPr/>
        </p:nvSpPr>
        <p:spPr>
          <a:xfrm>
            <a:off x="1007089" y="2268635"/>
            <a:ext cx="307777" cy="307777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CBF19D9-EEB3-1C63-8C01-F1519AE901D0}"/>
              </a:ext>
            </a:extLst>
          </p:cNvPr>
          <p:cNvSpPr/>
          <p:nvPr/>
        </p:nvSpPr>
        <p:spPr>
          <a:xfrm flipH="1">
            <a:off x="10744200" y="3973970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7FE99FD5-CEC6-5E70-92C7-04D5832D7A92}"/>
              </a:ext>
            </a:extLst>
          </p:cNvPr>
          <p:cNvSpPr/>
          <p:nvPr/>
        </p:nvSpPr>
        <p:spPr>
          <a:xfrm flipH="1">
            <a:off x="10744200" y="6138750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DBDBEF43-4753-F31A-1E2E-0A0AD001E82D}"/>
              </a:ext>
            </a:extLst>
          </p:cNvPr>
          <p:cNvSpPr/>
          <p:nvPr/>
        </p:nvSpPr>
        <p:spPr>
          <a:xfrm flipH="1">
            <a:off x="10744200" y="2232809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</p:spTree>
    <p:extLst>
      <p:ext uri="{BB962C8B-B14F-4D97-AF65-F5344CB8AC3E}">
        <p14:creationId xmlns:p14="http://schemas.microsoft.com/office/powerpoint/2010/main" val="304689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F2B87-8952-F8EB-39E1-2E299C41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C55B40-EEE9-9AFC-FDC8-6B6E01EB4453}"/>
              </a:ext>
            </a:extLst>
          </p:cNvPr>
          <p:cNvSpPr txBox="1"/>
          <p:nvPr/>
        </p:nvSpPr>
        <p:spPr>
          <a:xfrm>
            <a:off x="174661" y="256854"/>
            <a:ext cx="11401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1" dirty="0">
                <a:solidFill>
                  <a:schemeClr val="bg1"/>
                </a:solidFill>
              </a:rPr>
              <a:t>Scenario 2: the patient record holds a different NHS number to the PDS response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740CE1-DC58-4377-4854-8CEDCC190F77}"/>
              </a:ext>
            </a:extLst>
          </p:cNvPr>
          <p:cNvCxnSpPr>
            <a:cxnSpLocks/>
          </p:cNvCxnSpPr>
          <p:nvPr/>
        </p:nvCxnSpPr>
        <p:spPr>
          <a:xfrm>
            <a:off x="260386" y="724084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122288C-11B5-EF67-58E1-A420809AFB5B}"/>
              </a:ext>
            </a:extLst>
          </p:cNvPr>
          <p:cNvSpPr txBox="1"/>
          <p:nvPr/>
        </p:nvSpPr>
        <p:spPr>
          <a:xfrm>
            <a:off x="850936" y="1104579"/>
            <a:ext cx="93027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scenario shows a scenario in which the NHS number (and corresponding hash) held by the suppliers’ patient information differs to the PDS response information returned by a trace.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 this scenario a </a:t>
            </a:r>
            <a:r>
              <a:rPr lang="en-GB" b="1" dirty="0">
                <a:solidFill>
                  <a:schemeClr val="bg1"/>
                </a:solidFill>
              </a:rPr>
              <a:t>patient</a:t>
            </a:r>
            <a:r>
              <a:rPr lang="en-GB" dirty="0">
                <a:solidFill>
                  <a:schemeClr val="bg1"/>
                </a:solidFill>
              </a:rPr>
              <a:t> record is received, and added to the relevant </a:t>
            </a:r>
            <a:r>
              <a:rPr lang="en-GB" b="1" dirty="0">
                <a:solidFill>
                  <a:schemeClr val="bg1"/>
                </a:solidFill>
              </a:rPr>
              <a:t>patient </a:t>
            </a:r>
            <a:r>
              <a:rPr lang="en-GB" dirty="0">
                <a:solidFill>
                  <a:schemeClr val="bg1"/>
                </a:solidFill>
              </a:rPr>
              <a:t>table.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Whilst a PDS trace is ongoing, a </a:t>
            </a:r>
            <a:r>
              <a:rPr lang="en-GB" b="1" dirty="0">
                <a:solidFill>
                  <a:schemeClr val="bg1"/>
                </a:solidFill>
              </a:rPr>
              <a:t>person-stub</a:t>
            </a:r>
            <a:r>
              <a:rPr lang="en-GB" dirty="0">
                <a:solidFill>
                  <a:schemeClr val="bg1"/>
                </a:solidFill>
              </a:rPr>
              <a:t> record is generated using information from the </a:t>
            </a:r>
            <a:r>
              <a:rPr lang="en-GB" b="1" dirty="0">
                <a:solidFill>
                  <a:schemeClr val="bg1"/>
                </a:solidFill>
              </a:rPr>
              <a:t>patient </a:t>
            </a:r>
            <a:r>
              <a:rPr lang="en-GB" dirty="0">
                <a:solidFill>
                  <a:schemeClr val="bg1"/>
                </a:solidFill>
              </a:rPr>
              <a:t>table, and a bridging </a:t>
            </a:r>
            <a:r>
              <a:rPr lang="en-GB" b="1" dirty="0">
                <a:solidFill>
                  <a:schemeClr val="bg1"/>
                </a:solidFill>
              </a:rPr>
              <a:t>patient-person</a:t>
            </a:r>
            <a:r>
              <a:rPr lang="en-GB" dirty="0">
                <a:solidFill>
                  <a:schemeClr val="bg1"/>
                </a:solidFill>
              </a:rPr>
              <a:t> record is added to link this information together.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Once the PDS trace is returned, it is used to add an entirely new </a:t>
            </a:r>
            <a:r>
              <a:rPr lang="en-GB" b="1" dirty="0">
                <a:solidFill>
                  <a:schemeClr val="bg1"/>
                </a:solidFill>
              </a:rPr>
              <a:t>person record, </a:t>
            </a:r>
            <a:r>
              <a:rPr lang="en-GB" dirty="0">
                <a:solidFill>
                  <a:schemeClr val="bg1"/>
                </a:solidFill>
              </a:rPr>
              <a:t>which is then linked to the patient record, and points the patient to a new person ID value.</a:t>
            </a:r>
          </a:p>
        </p:txBody>
      </p:sp>
    </p:spTree>
    <p:extLst>
      <p:ext uri="{BB962C8B-B14F-4D97-AF65-F5344CB8AC3E}">
        <p14:creationId xmlns:p14="http://schemas.microsoft.com/office/powerpoint/2010/main" val="1460059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5DB1E-2E52-5907-0D70-3E1064C9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3F7DB0-754B-38AA-E4C4-A63F3ED74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913239"/>
              </p:ext>
            </p:extLst>
          </p:nvPr>
        </p:nvGraphicFramePr>
        <p:xfrm>
          <a:off x="1160978" y="1502578"/>
          <a:ext cx="987004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B1D81D-7B25-D16E-A000-F0A8E36F068A}"/>
              </a:ext>
            </a:extLst>
          </p:cNvPr>
          <p:cNvGraphicFramePr>
            <a:graphicFrameLocks noGrp="1"/>
          </p:cNvGraphicFramePr>
          <p:nvPr/>
        </p:nvGraphicFramePr>
        <p:xfrm>
          <a:off x="1160980" y="3254364"/>
          <a:ext cx="987004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C279C1-DEE4-B2EF-625E-E226F09FB00C}"/>
              </a:ext>
            </a:extLst>
          </p:cNvPr>
          <p:cNvGraphicFramePr>
            <a:graphicFrameLocks noGrp="1"/>
          </p:cNvGraphicFramePr>
          <p:nvPr/>
        </p:nvGraphicFramePr>
        <p:xfrm>
          <a:off x="1160980" y="5071934"/>
          <a:ext cx="9870040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75BD76-CBF7-C688-B863-34E5293F7325}"/>
              </a:ext>
            </a:extLst>
          </p:cNvPr>
          <p:cNvSpPr txBox="1"/>
          <p:nvPr/>
        </p:nvSpPr>
        <p:spPr>
          <a:xfrm>
            <a:off x="174661" y="256854"/>
            <a:ext cx="8598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2: the patient record holds a different NHS number to the PDS response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ED415B-D478-1839-DE4B-4FBEF8E7795E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30A152F-292C-F81F-16C4-4978D283F101}"/>
              </a:ext>
            </a:extLst>
          </p:cNvPr>
          <p:cNvSpPr txBox="1"/>
          <p:nvPr/>
        </p:nvSpPr>
        <p:spPr>
          <a:xfrm>
            <a:off x="565186" y="1044386"/>
            <a:ext cx="3388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Initial </a:t>
            </a:r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record added to continuum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60E907-973F-C2E8-8A97-FDC40A948CA5}"/>
              </a:ext>
            </a:extLst>
          </p:cNvPr>
          <p:cNvSpPr txBox="1"/>
          <p:nvPr/>
        </p:nvSpPr>
        <p:spPr>
          <a:xfrm>
            <a:off x="565186" y="2856387"/>
            <a:ext cx="600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Initial </a:t>
            </a:r>
            <a:r>
              <a:rPr lang="en-GB" sz="1400" b="1" dirty="0">
                <a:solidFill>
                  <a:schemeClr val="bg1"/>
                </a:solidFill>
              </a:rPr>
              <a:t>person stub </a:t>
            </a:r>
            <a:r>
              <a:rPr lang="en-GB" sz="1400" dirty="0">
                <a:solidFill>
                  <a:schemeClr val="bg1"/>
                </a:solidFill>
              </a:rPr>
              <a:t>record added, based on information from </a:t>
            </a:r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BB855C-4174-AB3F-5E8C-EDCE067823D2}"/>
              </a:ext>
            </a:extLst>
          </p:cNvPr>
          <p:cNvSpPr txBox="1"/>
          <p:nvPr/>
        </p:nvSpPr>
        <p:spPr>
          <a:xfrm>
            <a:off x="565186" y="4583757"/>
            <a:ext cx="6301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C98E2A7-C3E1-7662-18C5-3A3E108C036F}"/>
              </a:ext>
            </a:extLst>
          </p:cNvPr>
          <p:cNvSpPr/>
          <p:nvPr/>
        </p:nvSpPr>
        <p:spPr>
          <a:xfrm>
            <a:off x="1007089" y="3693358"/>
            <a:ext cx="307777" cy="3077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61471E-00C2-6158-1ACD-720FEC2E656D}"/>
              </a:ext>
            </a:extLst>
          </p:cNvPr>
          <p:cNvSpPr/>
          <p:nvPr/>
        </p:nvSpPr>
        <p:spPr>
          <a:xfrm>
            <a:off x="1007089" y="5505837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1DFC94D-D9D5-D695-7CF8-A6BC1F4FFBEE}"/>
              </a:ext>
            </a:extLst>
          </p:cNvPr>
          <p:cNvSpPr/>
          <p:nvPr/>
        </p:nvSpPr>
        <p:spPr>
          <a:xfrm>
            <a:off x="1006017" y="1912748"/>
            <a:ext cx="307777" cy="307777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41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EA30C-75D8-FDCE-EDD4-C7EEA350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E86458-1ACD-4649-3614-4D4860B99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991378"/>
              </p:ext>
            </p:extLst>
          </p:nvPr>
        </p:nvGraphicFramePr>
        <p:xfrm>
          <a:off x="1160978" y="1502578"/>
          <a:ext cx="987004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2117AB-B9DA-30F0-D1E4-85539711F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259823"/>
              </p:ext>
            </p:extLst>
          </p:nvPr>
        </p:nvGraphicFramePr>
        <p:xfrm>
          <a:off x="1160980" y="3254364"/>
          <a:ext cx="987004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TX65SFGH68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4D39C7-94B4-36A7-11B7-9900A3DB7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383650"/>
              </p:ext>
            </p:extLst>
          </p:nvPr>
        </p:nvGraphicFramePr>
        <p:xfrm>
          <a:off x="1160980" y="5071934"/>
          <a:ext cx="987004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14:00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E67674C-A7D6-38C8-36F4-607A95AF3F67}"/>
              </a:ext>
            </a:extLst>
          </p:cNvPr>
          <p:cNvSpPr txBox="1"/>
          <p:nvPr/>
        </p:nvSpPr>
        <p:spPr>
          <a:xfrm>
            <a:off x="174661" y="256854"/>
            <a:ext cx="8598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2: the patient record holds a different NHS number to the PDS response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B6CFDA-54D6-7CA6-7813-BE8D165C6387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838B61-2E6A-A200-354A-62CD064C89B3}"/>
              </a:ext>
            </a:extLst>
          </p:cNvPr>
          <p:cNvSpPr txBox="1"/>
          <p:nvPr/>
        </p:nvSpPr>
        <p:spPr>
          <a:xfrm>
            <a:off x="565186" y="1044386"/>
            <a:ext cx="344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table unchanged by PDS response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0D0E7-FBE6-7581-BD9D-887E8A7FC87E}"/>
              </a:ext>
            </a:extLst>
          </p:cNvPr>
          <p:cNvSpPr txBox="1"/>
          <p:nvPr/>
        </p:nvSpPr>
        <p:spPr>
          <a:xfrm>
            <a:off x="565186" y="2856387"/>
            <a:ext cx="4216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PDS response processed and added to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215CD5-DE6D-14FD-F38C-A1533A401D3E}"/>
              </a:ext>
            </a:extLst>
          </p:cNvPr>
          <p:cNvSpPr txBox="1"/>
          <p:nvPr/>
        </p:nvSpPr>
        <p:spPr>
          <a:xfrm>
            <a:off x="565186" y="4583757"/>
            <a:ext cx="6662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new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5E95866-B57B-81C5-68E2-31CE3B11B045}"/>
              </a:ext>
            </a:extLst>
          </p:cNvPr>
          <p:cNvSpPr/>
          <p:nvPr/>
        </p:nvSpPr>
        <p:spPr>
          <a:xfrm>
            <a:off x="1007089" y="4031892"/>
            <a:ext cx="307777" cy="3077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6E28B7-5F52-2BD9-C57D-576D23E1A30C}"/>
              </a:ext>
            </a:extLst>
          </p:cNvPr>
          <p:cNvSpPr/>
          <p:nvPr/>
        </p:nvSpPr>
        <p:spPr>
          <a:xfrm>
            <a:off x="1007089" y="5844371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247DC88-103B-8CE7-4AD6-D7038E8FEC63}"/>
              </a:ext>
            </a:extLst>
          </p:cNvPr>
          <p:cNvSpPr/>
          <p:nvPr/>
        </p:nvSpPr>
        <p:spPr>
          <a:xfrm flipH="1">
            <a:off x="10744200" y="3973970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7EE9742F-3DAA-13F4-1598-20E2C4121FF8}"/>
              </a:ext>
            </a:extLst>
          </p:cNvPr>
          <p:cNvSpPr/>
          <p:nvPr/>
        </p:nvSpPr>
        <p:spPr>
          <a:xfrm flipH="1">
            <a:off x="10744200" y="5760835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</p:spTree>
    <p:extLst>
      <p:ext uri="{BB962C8B-B14F-4D97-AF65-F5344CB8AC3E}">
        <p14:creationId xmlns:p14="http://schemas.microsoft.com/office/powerpoint/2010/main" val="124488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B7554-EF37-60B2-ECAA-FEF3ECDA1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307458-954F-14CE-DD4E-9CD085F6D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481136"/>
              </p:ext>
            </p:extLst>
          </p:nvPr>
        </p:nvGraphicFramePr>
        <p:xfrm>
          <a:off x="1160978" y="1502578"/>
          <a:ext cx="987004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REC456789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2025-04-02 11:12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5378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8EC766-09A6-1A18-CEE3-8E62D41AB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19742"/>
              </p:ext>
            </p:extLst>
          </p:nvPr>
        </p:nvGraphicFramePr>
        <p:xfrm>
          <a:off x="1160980" y="3254364"/>
          <a:ext cx="987004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TX65SFGH68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45EDB1-898E-F2F9-746E-FF0E7A077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146067"/>
              </p:ext>
            </p:extLst>
          </p:nvPr>
        </p:nvGraphicFramePr>
        <p:xfrm>
          <a:off x="1160980" y="5071934"/>
          <a:ext cx="987004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PERSON_02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REC987654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14:00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REC456789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2025-04-02 11:12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8887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B5D7C0-3975-995B-4697-D545510C8A5D}"/>
              </a:ext>
            </a:extLst>
          </p:cNvPr>
          <p:cNvSpPr txBox="1"/>
          <p:nvPr/>
        </p:nvSpPr>
        <p:spPr>
          <a:xfrm>
            <a:off x="174661" y="256854"/>
            <a:ext cx="8598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2: the patient record holds a different NHS number to the PDS response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E62695-900E-F56E-6539-5579CAE578DE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E068D5-70BB-2745-DB38-3B76AF496F93}"/>
              </a:ext>
            </a:extLst>
          </p:cNvPr>
          <p:cNvSpPr txBox="1"/>
          <p:nvPr/>
        </p:nvSpPr>
        <p:spPr>
          <a:xfrm>
            <a:off x="565186" y="1044386"/>
            <a:ext cx="7555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An updated version of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record is sent with the original NHS number (hash) unchanged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3D2AD-4350-6FDB-D75F-71241A8E74E6}"/>
              </a:ext>
            </a:extLst>
          </p:cNvPr>
          <p:cNvSpPr txBox="1"/>
          <p:nvPr/>
        </p:nvSpPr>
        <p:spPr>
          <a:xfrm>
            <a:off x="565186" y="2856387"/>
            <a:ext cx="7599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No new </a:t>
            </a:r>
            <a:r>
              <a:rPr lang="en-GB" sz="1400" b="1" dirty="0">
                <a:solidFill>
                  <a:schemeClr val="bg1"/>
                </a:solidFill>
              </a:rPr>
              <a:t>stub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b="1" dirty="0">
                <a:solidFill>
                  <a:schemeClr val="bg1"/>
                </a:solidFill>
              </a:rPr>
              <a:t>person </a:t>
            </a:r>
            <a:r>
              <a:rPr lang="en-GB" sz="1400" dirty="0">
                <a:solidFill>
                  <a:schemeClr val="bg1"/>
                </a:solidFill>
              </a:rPr>
              <a:t>record is created, as a PDS response already exists for this </a:t>
            </a:r>
            <a:r>
              <a:rPr lang="en-GB" sz="1400" b="1" dirty="0">
                <a:solidFill>
                  <a:schemeClr val="bg1"/>
                </a:solidFill>
              </a:rPr>
              <a:t>patient ID </a:t>
            </a:r>
            <a:r>
              <a:rPr lang="en-GB" sz="1400" dirty="0">
                <a:solidFill>
                  <a:schemeClr val="bg1"/>
                </a:solidFill>
              </a:rPr>
              <a:t>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8B9AE8-EF2F-B09F-5C02-A70F4F957D2F}"/>
              </a:ext>
            </a:extLst>
          </p:cNvPr>
          <p:cNvSpPr txBox="1"/>
          <p:nvPr/>
        </p:nvSpPr>
        <p:spPr>
          <a:xfrm>
            <a:off x="565186" y="4583757"/>
            <a:ext cx="6662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new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4F844D-FFC8-0C29-3F56-9F490F5D6EFE}"/>
              </a:ext>
            </a:extLst>
          </p:cNvPr>
          <p:cNvSpPr/>
          <p:nvPr/>
        </p:nvSpPr>
        <p:spPr>
          <a:xfrm>
            <a:off x="1007089" y="6223785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28F86B-1012-7DCE-CC78-B77A189B177B}"/>
              </a:ext>
            </a:extLst>
          </p:cNvPr>
          <p:cNvSpPr/>
          <p:nvPr/>
        </p:nvSpPr>
        <p:spPr>
          <a:xfrm>
            <a:off x="1007089" y="2268635"/>
            <a:ext cx="307777" cy="307777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049E3358-3AAB-0100-3CB5-D94DADBDBFA4}"/>
              </a:ext>
            </a:extLst>
          </p:cNvPr>
          <p:cNvSpPr/>
          <p:nvPr/>
        </p:nvSpPr>
        <p:spPr>
          <a:xfrm flipH="1">
            <a:off x="10744200" y="2210713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1E2C781A-2593-817B-C8EB-2D0158489E63}"/>
              </a:ext>
            </a:extLst>
          </p:cNvPr>
          <p:cNvSpPr/>
          <p:nvPr/>
        </p:nvSpPr>
        <p:spPr>
          <a:xfrm flipH="1">
            <a:off x="10744200" y="3973970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CE437E1A-BD31-F8AC-F168-F28B97BECDEA}"/>
              </a:ext>
            </a:extLst>
          </p:cNvPr>
          <p:cNvSpPr/>
          <p:nvPr/>
        </p:nvSpPr>
        <p:spPr>
          <a:xfrm flipH="1">
            <a:off x="10744200" y="6165863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</p:spTree>
    <p:extLst>
      <p:ext uri="{BB962C8B-B14F-4D97-AF65-F5344CB8AC3E}">
        <p14:creationId xmlns:p14="http://schemas.microsoft.com/office/powerpoint/2010/main" val="395478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25A7B-58BB-93DE-D316-D8990B969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808735-909B-9C30-A2A1-E0D65332204E}"/>
              </a:ext>
            </a:extLst>
          </p:cNvPr>
          <p:cNvSpPr/>
          <p:nvPr/>
        </p:nvSpPr>
        <p:spPr>
          <a:xfrm>
            <a:off x="1162050" y="4600575"/>
            <a:ext cx="9077325" cy="1390650"/>
          </a:xfrm>
          <a:prstGeom prst="roundRect">
            <a:avLst>
              <a:gd name="adj" fmla="val 913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B9FAA-D753-EEF2-A26E-C564FE257963}"/>
              </a:ext>
            </a:extLst>
          </p:cNvPr>
          <p:cNvSpPr txBox="1"/>
          <p:nvPr/>
        </p:nvSpPr>
        <p:spPr>
          <a:xfrm>
            <a:off x="174661" y="256854"/>
            <a:ext cx="10569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1" dirty="0">
                <a:solidFill>
                  <a:schemeClr val="bg1"/>
                </a:solidFill>
              </a:rPr>
              <a:t>Scenario 3: PDS finds and returns no match (or multi-match) for the patient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E97C254-9085-C90E-AE49-1FFDF6588E3D}"/>
              </a:ext>
            </a:extLst>
          </p:cNvPr>
          <p:cNvCxnSpPr>
            <a:cxnSpLocks/>
          </p:cNvCxnSpPr>
          <p:nvPr/>
        </p:nvCxnSpPr>
        <p:spPr>
          <a:xfrm>
            <a:off x="260386" y="724084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49CC084-E88C-7ABB-591B-5BAE1B9A7EA2}"/>
              </a:ext>
            </a:extLst>
          </p:cNvPr>
          <p:cNvSpPr txBox="1"/>
          <p:nvPr/>
        </p:nvSpPr>
        <p:spPr>
          <a:xfrm>
            <a:off x="850936" y="1104579"/>
            <a:ext cx="93027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scenario shows a scenario in which the NHS number (and corresponding hash) held by the suppliers patient information yields a PDS response that reports ‘no match’ or reports multiple possible matches (noting that PDS does not report what these matches are)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 this scenario a </a:t>
            </a:r>
            <a:r>
              <a:rPr lang="en-GB" b="1" dirty="0">
                <a:solidFill>
                  <a:schemeClr val="bg1"/>
                </a:solidFill>
              </a:rPr>
              <a:t>patient</a:t>
            </a:r>
            <a:r>
              <a:rPr lang="en-GB" dirty="0">
                <a:solidFill>
                  <a:schemeClr val="bg1"/>
                </a:solidFill>
              </a:rPr>
              <a:t> record is received, and added to the relevant </a:t>
            </a:r>
            <a:r>
              <a:rPr lang="en-GB" b="1" dirty="0">
                <a:solidFill>
                  <a:schemeClr val="bg1"/>
                </a:solidFill>
              </a:rPr>
              <a:t>patient </a:t>
            </a:r>
            <a:r>
              <a:rPr lang="en-GB" dirty="0">
                <a:solidFill>
                  <a:schemeClr val="bg1"/>
                </a:solidFill>
              </a:rPr>
              <a:t>table.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Whilst a PDS trace is ongoing, a </a:t>
            </a:r>
            <a:r>
              <a:rPr lang="en-GB" b="1" dirty="0">
                <a:solidFill>
                  <a:schemeClr val="bg1"/>
                </a:solidFill>
              </a:rPr>
              <a:t>person-stub</a:t>
            </a:r>
            <a:r>
              <a:rPr lang="en-GB" dirty="0">
                <a:solidFill>
                  <a:schemeClr val="bg1"/>
                </a:solidFill>
              </a:rPr>
              <a:t> record is generated using information from the </a:t>
            </a:r>
            <a:r>
              <a:rPr lang="en-GB" b="1" dirty="0">
                <a:solidFill>
                  <a:schemeClr val="bg1"/>
                </a:solidFill>
              </a:rPr>
              <a:t>patient </a:t>
            </a:r>
            <a:r>
              <a:rPr lang="en-GB" dirty="0">
                <a:solidFill>
                  <a:schemeClr val="bg1"/>
                </a:solidFill>
              </a:rPr>
              <a:t>table, and a bridging </a:t>
            </a:r>
            <a:r>
              <a:rPr lang="en-GB" b="1" dirty="0">
                <a:solidFill>
                  <a:schemeClr val="bg1"/>
                </a:solidFill>
              </a:rPr>
              <a:t>patient-person</a:t>
            </a:r>
            <a:r>
              <a:rPr lang="en-GB" dirty="0">
                <a:solidFill>
                  <a:schemeClr val="bg1"/>
                </a:solidFill>
              </a:rPr>
              <a:t> record is added to link this information together.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Once the PDS trace is returned, it is used to add an entirely new </a:t>
            </a:r>
            <a:r>
              <a:rPr lang="en-GB" b="1" dirty="0">
                <a:solidFill>
                  <a:schemeClr val="bg1"/>
                </a:solidFill>
              </a:rPr>
              <a:t>person record – based upon the patient ID only, </a:t>
            </a:r>
            <a:r>
              <a:rPr lang="en-GB" dirty="0">
                <a:solidFill>
                  <a:schemeClr val="bg1"/>
                </a:solidFill>
              </a:rPr>
              <a:t>which is then linked to the patient record, and points the patient to a new person ID value reporting the lack of a matching PDS record.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b="1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Note</a:t>
            </a:r>
          </a:p>
          <a:p>
            <a:pPr lvl="1"/>
            <a:r>
              <a:rPr lang="en-GB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This process is intentionally designed to provide ‘less’ information upon receipt of the PDS report of no match being found, so that users are aware of the lack of a match in the spine to the reported patient information</a:t>
            </a:r>
          </a:p>
        </p:txBody>
      </p:sp>
    </p:spTree>
    <p:extLst>
      <p:ext uri="{BB962C8B-B14F-4D97-AF65-F5344CB8AC3E}">
        <p14:creationId xmlns:p14="http://schemas.microsoft.com/office/powerpoint/2010/main" val="3325068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7C2E1-3557-81B5-3E86-098147532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DE1677-85C1-09BC-94DF-1BEA97603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539573"/>
              </p:ext>
            </p:extLst>
          </p:nvPr>
        </p:nvGraphicFramePr>
        <p:xfrm>
          <a:off x="1160978" y="1502578"/>
          <a:ext cx="987004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493BDC-1389-F265-C185-B928FA277ECC}"/>
              </a:ext>
            </a:extLst>
          </p:cNvPr>
          <p:cNvGraphicFramePr>
            <a:graphicFrameLocks noGrp="1"/>
          </p:cNvGraphicFramePr>
          <p:nvPr/>
        </p:nvGraphicFramePr>
        <p:xfrm>
          <a:off x="1160980" y="3254364"/>
          <a:ext cx="987004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276692-C0FA-0ED5-E5B1-D713660A1BA3}"/>
              </a:ext>
            </a:extLst>
          </p:cNvPr>
          <p:cNvGraphicFramePr>
            <a:graphicFrameLocks noGrp="1"/>
          </p:cNvGraphicFramePr>
          <p:nvPr/>
        </p:nvGraphicFramePr>
        <p:xfrm>
          <a:off x="1160980" y="5071934"/>
          <a:ext cx="9870040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20FE7F-8204-0FEE-A24D-080369D6690E}"/>
              </a:ext>
            </a:extLst>
          </p:cNvPr>
          <p:cNvSpPr txBox="1"/>
          <p:nvPr/>
        </p:nvSpPr>
        <p:spPr>
          <a:xfrm>
            <a:off x="174661" y="256854"/>
            <a:ext cx="797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3: PDS finds and returns no match (or multi-match) for the patient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8530C2-0F53-2F48-4895-E58F0027A9C6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328BC0-A506-44B5-D4BD-5CDD7752A860}"/>
              </a:ext>
            </a:extLst>
          </p:cNvPr>
          <p:cNvSpPr txBox="1"/>
          <p:nvPr/>
        </p:nvSpPr>
        <p:spPr>
          <a:xfrm>
            <a:off x="565186" y="1044386"/>
            <a:ext cx="3388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Initial </a:t>
            </a:r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record added to continuum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A5A39F-4911-5B19-BF01-0E1E8BAD1717}"/>
              </a:ext>
            </a:extLst>
          </p:cNvPr>
          <p:cNvSpPr txBox="1"/>
          <p:nvPr/>
        </p:nvSpPr>
        <p:spPr>
          <a:xfrm>
            <a:off x="565186" y="2856387"/>
            <a:ext cx="600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Initial </a:t>
            </a:r>
            <a:r>
              <a:rPr lang="en-GB" sz="1400" b="1" dirty="0">
                <a:solidFill>
                  <a:schemeClr val="bg1"/>
                </a:solidFill>
              </a:rPr>
              <a:t>person stub </a:t>
            </a:r>
            <a:r>
              <a:rPr lang="en-GB" sz="1400" dirty="0">
                <a:solidFill>
                  <a:schemeClr val="bg1"/>
                </a:solidFill>
              </a:rPr>
              <a:t>record added, based on information from </a:t>
            </a:r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3D3834-88A8-35F6-CC22-B9A033DCDA81}"/>
              </a:ext>
            </a:extLst>
          </p:cNvPr>
          <p:cNvSpPr txBox="1"/>
          <p:nvPr/>
        </p:nvSpPr>
        <p:spPr>
          <a:xfrm>
            <a:off x="565186" y="4583757"/>
            <a:ext cx="6301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1B44D0C-D514-BDA9-4CFA-1180B372AB9E}"/>
              </a:ext>
            </a:extLst>
          </p:cNvPr>
          <p:cNvSpPr/>
          <p:nvPr/>
        </p:nvSpPr>
        <p:spPr>
          <a:xfrm>
            <a:off x="1007089" y="3693358"/>
            <a:ext cx="307777" cy="3077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B2A976-B269-4A02-03AC-9CD18089EF51}"/>
              </a:ext>
            </a:extLst>
          </p:cNvPr>
          <p:cNvSpPr/>
          <p:nvPr/>
        </p:nvSpPr>
        <p:spPr>
          <a:xfrm>
            <a:off x="1007089" y="5505837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4542A8A-BF6A-D732-7F51-D1BDD2D52B51}"/>
              </a:ext>
            </a:extLst>
          </p:cNvPr>
          <p:cNvSpPr/>
          <p:nvPr/>
        </p:nvSpPr>
        <p:spPr>
          <a:xfrm>
            <a:off x="1006017" y="1912748"/>
            <a:ext cx="307777" cy="307777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177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EB450-B04E-2B93-C020-E5EE4B5A5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1EA6D1-0C38-4673-B71B-F709C594E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18456"/>
              </p:ext>
            </p:extLst>
          </p:nvPr>
        </p:nvGraphicFramePr>
        <p:xfrm>
          <a:off x="1160978" y="1502578"/>
          <a:ext cx="987004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AE71A0-5A54-99D1-108B-89B2C87D8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616174"/>
              </p:ext>
            </p:extLst>
          </p:nvPr>
        </p:nvGraphicFramePr>
        <p:xfrm>
          <a:off x="1160980" y="3254364"/>
          <a:ext cx="987004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ACEFB2-6413-4C84-70C5-539AB5730673}"/>
              </a:ext>
            </a:extLst>
          </p:cNvPr>
          <p:cNvGraphicFramePr>
            <a:graphicFrameLocks noGrp="1"/>
          </p:cNvGraphicFramePr>
          <p:nvPr/>
        </p:nvGraphicFramePr>
        <p:xfrm>
          <a:off x="1160980" y="5071934"/>
          <a:ext cx="987004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14:00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DAA0082-8DB1-A369-EFE0-8DE576143E15}"/>
              </a:ext>
            </a:extLst>
          </p:cNvPr>
          <p:cNvSpPr txBox="1"/>
          <p:nvPr/>
        </p:nvSpPr>
        <p:spPr>
          <a:xfrm>
            <a:off x="174661" y="256854"/>
            <a:ext cx="797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3: PDS finds and returns no match (or multi-match) for the patient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49F0EA-FC3A-4D01-B609-7FEBE28B336C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8E29EF6-43AC-12E8-DC1D-F5D3D82FD24F}"/>
              </a:ext>
            </a:extLst>
          </p:cNvPr>
          <p:cNvSpPr txBox="1"/>
          <p:nvPr/>
        </p:nvSpPr>
        <p:spPr>
          <a:xfrm>
            <a:off x="565186" y="1044386"/>
            <a:ext cx="344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table unchanged by PDS response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AAEF6E-AA8F-1566-46D9-70C05570D866}"/>
              </a:ext>
            </a:extLst>
          </p:cNvPr>
          <p:cNvSpPr txBox="1"/>
          <p:nvPr/>
        </p:nvSpPr>
        <p:spPr>
          <a:xfrm>
            <a:off x="565186" y="2692805"/>
            <a:ext cx="8795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PDS response gives a ‘no match’ (or ‘multiple matches found’) response. This is processed and added to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</a:p>
          <a:p>
            <a:r>
              <a:rPr lang="en-GB" sz="1400" i="1" dirty="0">
                <a:solidFill>
                  <a:schemeClr val="bg1"/>
                </a:solidFill>
              </a:rPr>
              <a:t>Note: the “error success code” in the person table will indicate the response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8D3F6-594F-8F73-5869-FCDC539A0E4F}"/>
              </a:ext>
            </a:extLst>
          </p:cNvPr>
          <p:cNvSpPr txBox="1"/>
          <p:nvPr/>
        </p:nvSpPr>
        <p:spPr>
          <a:xfrm>
            <a:off x="565186" y="4583757"/>
            <a:ext cx="10465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new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record. </a:t>
            </a:r>
          </a:p>
          <a:p>
            <a:r>
              <a:rPr lang="en-GB" sz="1400" i="1" dirty="0">
                <a:solidFill>
                  <a:schemeClr val="bg1"/>
                </a:solidFill>
              </a:rPr>
              <a:t>Note: This intentionally affirms that the information held in the patient does not correspond to a record in the national spine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D9AC9F5-E5B9-0F8C-672E-F91CB22B10DC}"/>
              </a:ext>
            </a:extLst>
          </p:cNvPr>
          <p:cNvSpPr/>
          <p:nvPr/>
        </p:nvSpPr>
        <p:spPr>
          <a:xfrm>
            <a:off x="1007089" y="4031892"/>
            <a:ext cx="307777" cy="3077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B74E1E-94FB-C243-A6F3-0710A60A6E75}"/>
              </a:ext>
            </a:extLst>
          </p:cNvPr>
          <p:cNvSpPr/>
          <p:nvPr/>
        </p:nvSpPr>
        <p:spPr>
          <a:xfrm>
            <a:off x="1007089" y="5844371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B7A28B3-56F1-AE99-A6BD-399D63373DFA}"/>
              </a:ext>
            </a:extLst>
          </p:cNvPr>
          <p:cNvSpPr/>
          <p:nvPr/>
        </p:nvSpPr>
        <p:spPr>
          <a:xfrm flipH="1">
            <a:off x="10744200" y="3973970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17498B97-6933-B54D-71EC-1139A6A775A7}"/>
              </a:ext>
            </a:extLst>
          </p:cNvPr>
          <p:cNvSpPr/>
          <p:nvPr/>
        </p:nvSpPr>
        <p:spPr>
          <a:xfrm flipH="1">
            <a:off x="10744200" y="5786449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</p:spTree>
    <p:extLst>
      <p:ext uri="{BB962C8B-B14F-4D97-AF65-F5344CB8AC3E}">
        <p14:creationId xmlns:p14="http://schemas.microsoft.com/office/powerpoint/2010/main" val="2031564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0E6AB-44D4-7B3C-3D9D-75C7C7D0C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8F2CC2-B4FD-D801-1E28-7631A059C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713911"/>
              </p:ext>
            </p:extLst>
          </p:nvPr>
        </p:nvGraphicFramePr>
        <p:xfrm>
          <a:off x="1160978" y="1502578"/>
          <a:ext cx="987004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REC963852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2025-10-07 06:56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F00001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0472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D01F3D-4392-00EC-C1F6-6F55A0ACC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31668"/>
              </p:ext>
            </p:extLst>
          </p:nvPr>
        </p:nvGraphicFramePr>
        <p:xfrm>
          <a:off x="1160980" y="3254364"/>
          <a:ext cx="987004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425CA4-B8CE-731F-716A-C9F42F1C6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05390"/>
              </p:ext>
            </p:extLst>
          </p:nvPr>
        </p:nvGraphicFramePr>
        <p:xfrm>
          <a:off x="1160980" y="5071934"/>
          <a:ext cx="987004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PERSON_02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REC987654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14:00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PERSON_02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REC963852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2025-10-07 06:56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9386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501EAD-1FBE-9D15-9931-CB033A1A47BC}"/>
              </a:ext>
            </a:extLst>
          </p:cNvPr>
          <p:cNvSpPr txBox="1"/>
          <p:nvPr/>
        </p:nvSpPr>
        <p:spPr>
          <a:xfrm>
            <a:off x="174661" y="256854"/>
            <a:ext cx="797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3: PDS finds and returns no match (or multi-match) for the patient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AE5785-D6CA-5830-1374-C36F5395003F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096190-639B-EED4-7541-2A4F5F030572}"/>
              </a:ext>
            </a:extLst>
          </p:cNvPr>
          <p:cNvSpPr txBox="1"/>
          <p:nvPr/>
        </p:nvSpPr>
        <p:spPr>
          <a:xfrm>
            <a:off x="565186" y="1044386"/>
            <a:ext cx="4482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table updated with a new person record-version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C91576-6B7A-026C-1784-4511388DD117}"/>
              </a:ext>
            </a:extLst>
          </p:cNvPr>
          <p:cNvSpPr txBox="1"/>
          <p:nvPr/>
        </p:nvSpPr>
        <p:spPr>
          <a:xfrm>
            <a:off x="565186" y="2706350"/>
            <a:ext cx="10906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No stub is created as a PDS record already exists for this </a:t>
            </a:r>
            <a:r>
              <a:rPr lang="en-GB" sz="1400" b="1" dirty="0">
                <a:solidFill>
                  <a:schemeClr val="bg1"/>
                </a:solidFill>
              </a:rPr>
              <a:t>patient id </a:t>
            </a:r>
            <a:r>
              <a:rPr lang="en-GB" sz="1400" dirty="0">
                <a:solidFill>
                  <a:schemeClr val="bg1"/>
                </a:solidFill>
              </a:rPr>
              <a:t>value </a:t>
            </a:r>
          </a:p>
          <a:p>
            <a:r>
              <a:rPr lang="en-GB" sz="1400" dirty="0">
                <a:solidFill>
                  <a:schemeClr val="bg1"/>
                </a:solidFill>
              </a:rPr>
              <a:t>Note: the new patient record-version will be traced in PDS, and may generate a new PDS response that supersedes this initial PDS response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D211F0-9BA9-D1D5-614D-640FA7AB32BC}"/>
              </a:ext>
            </a:extLst>
          </p:cNvPr>
          <p:cNvSpPr txBox="1"/>
          <p:nvPr/>
        </p:nvSpPr>
        <p:spPr>
          <a:xfrm>
            <a:off x="565186" y="4583757"/>
            <a:ext cx="10465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new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record. </a:t>
            </a:r>
          </a:p>
          <a:p>
            <a:r>
              <a:rPr lang="en-GB" sz="1400" i="1" dirty="0">
                <a:solidFill>
                  <a:schemeClr val="bg1"/>
                </a:solidFill>
              </a:rPr>
              <a:t>Note: This intentionally affirms that the information held in the patient does not correspond to a record in the national spine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E1BA12-93C5-DF40-68C1-F6FF6F8641B9}"/>
              </a:ext>
            </a:extLst>
          </p:cNvPr>
          <p:cNvSpPr/>
          <p:nvPr/>
        </p:nvSpPr>
        <p:spPr>
          <a:xfrm>
            <a:off x="1007088" y="6223785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868F3D0-89FE-83D4-22A0-66959D342125}"/>
              </a:ext>
            </a:extLst>
          </p:cNvPr>
          <p:cNvSpPr/>
          <p:nvPr/>
        </p:nvSpPr>
        <p:spPr>
          <a:xfrm>
            <a:off x="1007087" y="2261869"/>
            <a:ext cx="307777" cy="307777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9EBB6EB0-25B9-A6DF-0B0E-7B10A75DA64B}"/>
              </a:ext>
            </a:extLst>
          </p:cNvPr>
          <p:cNvSpPr/>
          <p:nvPr/>
        </p:nvSpPr>
        <p:spPr>
          <a:xfrm flipH="1">
            <a:off x="10744200" y="2211182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B92670C0-A90B-6AC5-C924-1CCC00436175}"/>
              </a:ext>
            </a:extLst>
          </p:cNvPr>
          <p:cNvSpPr/>
          <p:nvPr/>
        </p:nvSpPr>
        <p:spPr>
          <a:xfrm flipH="1">
            <a:off x="10744200" y="3973970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60A5E3B6-4A98-EC09-F0F1-A598D06C7836}"/>
              </a:ext>
            </a:extLst>
          </p:cNvPr>
          <p:cNvSpPr/>
          <p:nvPr/>
        </p:nvSpPr>
        <p:spPr>
          <a:xfrm flipH="1">
            <a:off x="10744200" y="6165863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</p:spTree>
    <p:extLst>
      <p:ext uri="{BB962C8B-B14F-4D97-AF65-F5344CB8AC3E}">
        <p14:creationId xmlns:p14="http://schemas.microsoft.com/office/powerpoint/2010/main" val="4099510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7C880-57C6-A109-A7AA-C6F701A8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C9D9A6-1602-A2D4-ACEC-4E616D37AF85}"/>
              </a:ext>
            </a:extLst>
          </p:cNvPr>
          <p:cNvSpPr txBox="1"/>
          <p:nvPr/>
        </p:nvSpPr>
        <p:spPr>
          <a:xfrm>
            <a:off x="174661" y="256854"/>
            <a:ext cx="6474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1" dirty="0">
                <a:solidFill>
                  <a:schemeClr val="bg1"/>
                </a:solidFill>
              </a:rPr>
              <a:t>Scenario 4: Person moves from ICB X to ICB 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519573-68DE-5634-4C92-F12DDCFEB8FE}"/>
              </a:ext>
            </a:extLst>
          </p:cNvPr>
          <p:cNvCxnSpPr>
            <a:cxnSpLocks/>
          </p:cNvCxnSpPr>
          <p:nvPr/>
        </p:nvCxnSpPr>
        <p:spPr>
          <a:xfrm>
            <a:off x="260386" y="724084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40F6345-83AE-E032-D429-213B02D34722}"/>
              </a:ext>
            </a:extLst>
          </p:cNvPr>
          <p:cNvSpPr txBox="1"/>
          <p:nvPr/>
        </p:nvSpPr>
        <p:spPr>
          <a:xfrm>
            <a:off x="695325" y="1104579"/>
            <a:ext cx="108584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scenario shows a scenario in which the patient moves from one practice to another. This scenario focusses on a movement that crosses ICB boundaries and therefore affects receipt of records between subscribers.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 this scenario a </a:t>
            </a:r>
            <a:r>
              <a:rPr lang="en-GB" b="1" dirty="0">
                <a:solidFill>
                  <a:schemeClr val="bg1"/>
                </a:solidFill>
              </a:rPr>
              <a:t>patient</a:t>
            </a:r>
            <a:r>
              <a:rPr lang="en-GB" dirty="0">
                <a:solidFill>
                  <a:schemeClr val="bg1"/>
                </a:solidFill>
              </a:rPr>
              <a:t> record is received, and added to the relevant </a:t>
            </a:r>
            <a:r>
              <a:rPr lang="en-GB" b="1" dirty="0">
                <a:solidFill>
                  <a:schemeClr val="bg1"/>
                </a:solidFill>
              </a:rPr>
              <a:t>patient </a:t>
            </a:r>
            <a:r>
              <a:rPr lang="en-GB" dirty="0">
                <a:solidFill>
                  <a:schemeClr val="bg1"/>
                </a:solidFill>
              </a:rPr>
              <a:t>table.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Whilst a PDS trace is ongoing, a </a:t>
            </a:r>
            <a:r>
              <a:rPr lang="en-GB" b="1" dirty="0">
                <a:solidFill>
                  <a:schemeClr val="bg1"/>
                </a:solidFill>
              </a:rPr>
              <a:t>person-stub</a:t>
            </a:r>
            <a:r>
              <a:rPr lang="en-GB" dirty="0">
                <a:solidFill>
                  <a:schemeClr val="bg1"/>
                </a:solidFill>
              </a:rPr>
              <a:t> record is generated using information from the </a:t>
            </a:r>
            <a:r>
              <a:rPr lang="en-GB" b="1" dirty="0">
                <a:solidFill>
                  <a:schemeClr val="bg1"/>
                </a:solidFill>
              </a:rPr>
              <a:t>patient </a:t>
            </a:r>
            <a:r>
              <a:rPr lang="en-GB" dirty="0">
                <a:solidFill>
                  <a:schemeClr val="bg1"/>
                </a:solidFill>
              </a:rPr>
              <a:t>table, and a bridging </a:t>
            </a:r>
            <a:r>
              <a:rPr lang="en-GB" b="1" dirty="0">
                <a:solidFill>
                  <a:schemeClr val="bg1"/>
                </a:solidFill>
              </a:rPr>
              <a:t>patient-person</a:t>
            </a:r>
            <a:r>
              <a:rPr lang="en-GB" dirty="0">
                <a:solidFill>
                  <a:schemeClr val="bg1"/>
                </a:solidFill>
              </a:rPr>
              <a:t> record is added to link this information together.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Once the PDS trace is returned, it is used to add a new </a:t>
            </a:r>
            <a:r>
              <a:rPr lang="en-GB" b="1" dirty="0">
                <a:solidFill>
                  <a:schemeClr val="bg1"/>
                </a:solidFill>
              </a:rPr>
              <a:t>person-record record, </a:t>
            </a:r>
            <a:r>
              <a:rPr lang="en-GB" dirty="0">
                <a:solidFill>
                  <a:schemeClr val="bg1"/>
                </a:solidFill>
              </a:rPr>
              <a:t>which is then linked to the patient record, and points the patient to a new person ID value.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b="1" dirty="0">
                <a:solidFill>
                  <a:schemeClr val="bg1"/>
                </a:solidFill>
              </a:rPr>
              <a:t>The person then moves practice from Practice A to Practice B.</a:t>
            </a:r>
            <a:r>
              <a:rPr lang="en-GB" dirty="0">
                <a:solidFill>
                  <a:schemeClr val="bg1"/>
                </a:solidFill>
              </a:rPr>
              <a:t> In doing so they become a new Patient “Patient 02”.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89F68C-55F4-0034-F241-8738A5E1A4A1}"/>
              </a:ext>
            </a:extLst>
          </p:cNvPr>
          <p:cNvSpPr/>
          <p:nvPr/>
        </p:nvSpPr>
        <p:spPr>
          <a:xfrm>
            <a:off x="1819275" y="5276850"/>
            <a:ext cx="9077325" cy="1171896"/>
          </a:xfrm>
          <a:prstGeom prst="roundRect">
            <a:avLst>
              <a:gd name="adj" fmla="val 913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dirty="0">
                <a:solidFill>
                  <a:srgbClr val="FF0000"/>
                </a:solidFill>
              </a:rPr>
              <a:t>Important:</a:t>
            </a:r>
          </a:p>
          <a:p>
            <a:r>
              <a:rPr lang="en-GB" dirty="0">
                <a:solidFill>
                  <a:srgbClr val="FF0000"/>
                </a:solidFill>
              </a:rPr>
              <a:t>This process is designed to ensure that subscribers are not in receipt of person information that is generated from records received </a:t>
            </a:r>
            <a:r>
              <a:rPr lang="en-GB" b="1" dirty="0">
                <a:solidFill>
                  <a:srgbClr val="FF0000"/>
                </a:solidFill>
              </a:rPr>
              <a:t>AFTER</a:t>
            </a:r>
            <a:r>
              <a:rPr lang="en-GB" dirty="0">
                <a:solidFill>
                  <a:srgbClr val="FF0000"/>
                </a:solidFill>
              </a:rPr>
              <a:t> their patient leaves.</a:t>
            </a:r>
          </a:p>
        </p:txBody>
      </p:sp>
    </p:spTree>
    <p:extLst>
      <p:ext uri="{BB962C8B-B14F-4D97-AF65-F5344CB8AC3E}">
        <p14:creationId xmlns:p14="http://schemas.microsoft.com/office/powerpoint/2010/main" val="341102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B830D4-5C8D-F534-51B9-A1C8619E9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745D80-E236-7B83-8AD0-3630B84DA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764821"/>
              </p:ext>
            </p:extLst>
          </p:nvPr>
        </p:nvGraphicFramePr>
        <p:xfrm>
          <a:off x="1160978" y="1502578"/>
          <a:ext cx="987004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Practice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EE20C0-EE67-268E-701E-30B821506308}"/>
              </a:ext>
            </a:extLst>
          </p:cNvPr>
          <p:cNvGraphicFramePr>
            <a:graphicFrameLocks noGrp="1"/>
          </p:cNvGraphicFramePr>
          <p:nvPr/>
        </p:nvGraphicFramePr>
        <p:xfrm>
          <a:off x="1160980" y="3254364"/>
          <a:ext cx="987004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EMIS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652A03-DEB1-F6AD-E916-095E15E416CF}"/>
              </a:ext>
            </a:extLst>
          </p:cNvPr>
          <p:cNvGraphicFramePr>
            <a:graphicFrameLocks noGrp="1"/>
          </p:cNvGraphicFramePr>
          <p:nvPr/>
        </p:nvGraphicFramePr>
        <p:xfrm>
          <a:off x="1160980" y="5071934"/>
          <a:ext cx="9870040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12:00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DB0156C-8CBE-F884-F655-E066E36A9030}"/>
              </a:ext>
            </a:extLst>
          </p:cNvPr>
          <p:cNvSpPr txBox="1"/>
          <p:nvPr/>
        </p:nvSpPr>
        <p:spPr>
          <a:xfrm>
            <a:off x="174661" y="256854"/>
            <a:ext cx="491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4: Patient moves from ICB X to ICB 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BF8B2-7BDC-02BD-406C-D0E54A3C404A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816328-D001-4903-B464-1EC3FABC4FDA}"/>
              </a:ext>
            </a:extLst>
          </p:cNvPr>
          <p:cNvSpPr txBox="1"/>
          <p:nvPr/>
        </p:nvSpPr>
        <p:spPr>
          <a:xfrm>
            <a:off x="565186" y="1044386"/>
            <a:ext cx="5496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Initial </a:t>
            </a:r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record added to continuum under practice A, in ICB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CC7C4-BDC6-C5AB-2749-F296309D7BE5}"/>
              </a:ext>
            </a:extLst>
          </p:cNvPr>
          <p:cNvSpPr txBox="1"/>
          <p:nvPr/>
        </p:nvSpPr>
        <p:spPr>
          <a:xfrm>
            <a:off x="565186" y="2856387"/>
            <a:ext cx="600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Initial </a:t>
            </a:r>
            <a:r>
              <a:rPr lang="en-GB" sz="1400" b="1" dirty="0">
                <a:solidFill>
                  <a:schemeClr val="bg1"/>
                </a:solidFill>
              </a:rPr>
              <a:t>person stub </a:t>
            </a:r>
            <a:r>
              <a:rPr lang="en-GB" sz="1400" dirty="0">
                <a:solidFill>
                  <a:schemeClr val="bg1"/>
                </a:solidFill>
              </a:rPr>
              <a:t>record added, based on information from </a:t>
            </a:r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571210-1E40-A421-643C-68603A0117CC}"/>
              </a:ext>
            </a:extLst>
          </p:cNvPr>
          <p:cNvSpPr txBox="1"/>
          <p:nvPr/>
        </p:nvSpPr>
        <p:spPr>
          <a:xfrm>
            <a:off x="565186" y="4583757"/>
            <a:ext cx="6301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209DB27-2E36-B16F-CD92-6493167C2891}"/>
              </a:ext>
            </a:extLst>
          </p:cNvPr>
          <p:cNvSpPr/>
          <p:nvPr/>
        </p:nvSpPr>
        <p:spPr>
          <a:xfrm>
            <a:off x="1007089" y="3693358"/>
            <a:ext cx="307777" cy="3077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CE009AD-FF28-4F59-4AC9-F958C7644913}"/>
              </a:ext>
            </a:extLst>
          </p:cNvPr>
          <p:cNvSpPr/>
          <p:nvPr/>
        </p:nvSpPr>
        <p:spPr>
          <a:xfrm>
            <a:off x="1007089" y="5505837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152EE81-679A-F25F-7E25-1BA393A53E1A}"/>
              </a:ext>
            </a:extLst>
          </p:cNvPr>
          <p:cNvSpPr/>
          <p:nvPr/>
        </p:nvSpPr>
        <p:spPr>
          <a:xfrm>
            <a:off x="1006017" y="1912748"/>
            <a:ext cx="307777" cy="307777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518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5BAF6-264E-25A4-B223-8A6C5CCA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408B54-E9C6-076C-872B-DB4A3C73D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779549"/>
              </p:ext>
            </p:extLst>
          </p:nvPr>
        </p:nvGraphicFramePr>
        <p:xfrm>
          <a:off x="1160978" y="1502578"/>
          <a:ext cx="987004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Practice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4C72EA-2629-CBFD-47C0-F5AE3EBC5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666895"/>
              </p:ext>
            </p:extLst>
          </p:nvPr>
        </p:nvGraphicFramePr>
        <p:xfrm>
          <a:off x="1160980" y="3254364"/>
          <a:ext cx="987004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H1234567890</a:t>
                      </a:r>
                      <a:endParaRPr lang="en-GB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C2DD45-B123-E8D4-ED86-06040A75D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316673"/>
              </p:ext>
            </p:extLst>
          </p:nvPr>
        </p:nvGraphicFramePr>
        <p:xfrm>
          <a:off x="1160980" y="5071934"/>
          <a:ext cx="987004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14:00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F77E1F6-DC24-0E0C-69CF-82F1B1EE6A97}"/>
              </a:ext>
            </a:extLst>
          </p:cNvPr>
          <p:cNvSpPr txBox="1"/>
          <p:nvPr/>
        </p:nvSpPr>
        <p:spPr>
          <a:xfrm>
            <a:off x="174661" y="256854"/>
            <a:ext cx="491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4: Patient moves from ICB X to ICB 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BCE5A6-3C54-C426-1C0F-BFA75EC7AD6F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35EF3D9-E3FE-69FD-82D6-FBE794159C96}"/>
              </a:ext>
            </a:extLst>
          </p:cNvPr>
          <p:cNvSpPr txBox="1"/>
          <p:nvPr/>
        </p:nvSpPr>
        <p:spPr>
          <a:xfrm>
            <a:off x="565186" y="1044386"/>
            <a:ext cx="344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Patient</a:t>
            </a:r>
            <a:r>
              <a:rPr lang="en-GB" sz="1400" dirty="0">
                <a:solidFill>
                  <a:schemeClr val="bg1"/>
                </a:solidFill>
              </a:rPr>
              <a:t> table unchanged by PDS response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10710-82AA-F1C9-4CB5-82E84E7C03AA}"/>
              </a:ext>
            </a:extLst>
          </p:cNvPr>
          <p:cNvSpPr txBox="1"/>
          <p:nvPr/>
        </p:nvSpPr>
        <p:spPr>
          <a:xfrm>
            <a:off x="565186" y="2692805"/>
            <a:ext cx="5151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PDS response gives  a response, this supersedes the stub record</a:t>
            </a:r>
            <a:endParaRPr lang="en-GB" sz="1400" i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B26104-20C3-8DC7-BDD8-745FA538DA16}"/>
              </a:ext>
            </a:extLst>
          </p:cNvPr>
          <p:cNvSpPr txBox="1"/>
          <p:nvPr/>
        </p:nvSpPr>
        <p:spPr>
          <a:xfrm>
            <a:off x="565186" y="4583757"/>
            <a:ext cx="10465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new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12C3C0-8B1A-0914-D3C9-8A4562B37A0D}"/>
              </a:ext>
            </a:extLst>
          </p:cNvPr>
          <p:cNvSpPr/>
          <p:nvPr/>
        </p:nvSpPr>
        <p:spPr>
          <a:xfrm>
            <a:off x="1007089" y="4031892"/>
            <a:ext cx="307777" cy="3077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B946C0-6513-14D4-7DA2-051C39C3241A}"/>
              </a:ext>
            </a:extLst>
          </p:cNvPr>
          <p:cNvSpPr/>
          <p:nvPr/>
        </p:nvSpPr>
        <p:spPr>
          <a:xfrm>
            <a:off x="1007089" y="5844371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5619685E-F9EB-3E24-662B-C6BD33883EED}"/>
              </a:ext>
            </a:extLst>
          </p:cNvPr>
          <p:cNvSpPr/>
          <p:nvPr/>
        </p:nvSpPr>
        <p:spPr>
          <a:xfrm flipH="1">
            <a:off x="10744200" y="3973970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0F0DF60D-1152-B0C1-50EF-C13B5016903B}"/>
              </a:ext>
            </a:extLst>
          </p:cNvPr>
          <p:cNvSpPr/>
          <p:nvPr/>
        </p:nvSpPr>
        <p:spPr>
          <a:xfrm flipH="1">
            <a:off x="10744200" y="5786449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</p:spTree>
    <p:extLst>
      <p:ext uri="{BB962C8B-B14F-4D97-AF65-F5344CB8AC3E}">
        <p14:creationId xmlns:p14="http://schemas.microsoft.com/office/powerpoint/2010/main" val="3579245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0FC8C-932D-3E79-F7A0-0A87FED0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2DF641-9989-3B96-4629-AD7684492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50498"/>
              </p:ext>
            </p:extLst>
          </p:nvPr>
        </p:nvGraphicFramePr>
        <p:xfrm>
          <a:off x="1160978" y="1502578"/>
          <a:ext cx="987004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Practice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REC741852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2025-06-06 06:23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TPP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ICB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Practice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49753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C605CA-6806-6F4C-10F4-3CA794E9C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868395"/>
              </p:ext>
            </p:extLst>
          </p:nvPr>
        </p:nvGraphicFramePr>
        <p:xfrm>
          <a:off x="1160980" y="3254364"/>
          <a:ext cx="987004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D44E4E-5D3B-E163-9586-FAB17A007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80403"/>
              </p:ext>
            </p:extLst>
          </p:nvPr>
        </p:nvGraphicFramePr>
        <p:xfrm>
          <a:off x="1160980" y="5071934"/>
          <a:ext cx="987004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2025-02-02 14:00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PATIENT_99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REC741852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2025-06-06 06:23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2876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F5EE67-25A6-BD0B-9E6C-509216A0B36D}"/>
              </a:ext>
            </a:extLst>
          </p:cNvPr>
          <p:cNvSpPr txBox="1"/>
          <p:nvPr/>
        </p:nvSpPr>
        <p:spPr>
          <a:xfrm>
            <a:off x="174661" y="256854"/>
            <a:ext cx="491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4: Patient moves from ICB X to ICB 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6B5BF2-1627-D2D6-2C02-72BFFEEF56B3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1FFB2C-6261-516E-AD81-B3017CE15946}"/>
              </a:ext>
            </a:extLst>
          </p:cNvPr>
          <p:cNvSpPr txBox="1"/>
          <p:nvPr/>
        </p:nvSpPr>
        <p:spPr>
          <a:xfrm>
            <a:off x="565186" y="1044386"/>
            <a:ext cx="8486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leaves practice A, and joins practice B – moving ICBs in the process. A whole new patient is received.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E114EE-E290-83D6-B9D0-0DB3D976C915}"/>
              </a:ext>
            </a:extLst>
          </p:cNvPr>
          <p:cNvSpPr txBox="1"/>
          <p:nvPr/>
        </p:nvSpPr>
        <p:spPr>
          <a:xfrm>
            <a:off x="565186" y="2766187"/>
            <a:ext cx="7326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No person stub is created, as the PDS response with the same NHS hash value already exists</a:t>
            </a:r>
            <a:endParaRPr lang="en-GB" sz="1400" i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227E6A-564F-0F53-5C10-BE992F66777B}"/>
              </a:ext>
            </a:extLst>
          </p:cNvPr>
          <p:cNvSpPr txBox="1"/>
          <p:nvPr/>
        </p:nvSpPr>
        <p:spPr>
          <a:xfrm>
            <a:off x="565186" y="4583757"/>
            <a:ext cx="10465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added to point the new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old </a:t>
            </a:r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record. But only the PDS response.</a:t>
            </a:r>
          </a:p>
          <a:p>
            <a:r>
              <a:rPr lang="en-GB" sz="1400" dirty="0">
                <a:solidFill>
                  <a:schemeClr val="bg1"/>
                </a:solidFill>
              </a:rPr>
              <a:t>This allows ICB Y to view the PDS response that applied to the same NHS number, but not the stub.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F36AF2-E237-10DB-C6C6-D3146B3159F0}"/>
              </a:ext>
            </a:extLst>
          </p:cNvPr>
          <p:cNvSpPr/>
          <p:nvPr/>
        </p:nvSpPr>
        <p:spPr>
          <a:xfrm>
            <a:off x="1007088" y="6223785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3D4765-F18C-325B-40B3-B41E60CC2F92}"/>
              </a:ext>
            </a:extLst>
          </p:cNvPr>
          <p:cNvSpPr/>
          <p:nvPr/>
        </p:nvSpPr>
        <p:spPr>
          <a:xfrm>
            <a:off x="1007088" y="2301527"/>
            <a:ext cx="307777" cy="307777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F968F9FB-6741-CA87-275F-CDC2DF66F96C}"/>
              </a:ext>
            </a:extLst>
          </p:cNvPr>
          <p:cNvSpPr/>
          <p:nvPr/>
        </p:nvSpPr>
        <p:spPr>
          <a:xfrm flipH="1">
            <a:off x="10744200" y="1839898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E414C506-34AD-803C-1E8C-3CF043324BE7}"/>
              </a:ext>
            </a:extLst>
          </p:cNvPr>
          <p:cNvSpPr/>
          <p:nvPr/>
        </p:nvSpPr>
        <p:spPr>
          <a:xfrm flipH="1">
            <a:off x="10744200" y="2305175"/>
            <a:ext cx="1447800" cy="42361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Y sees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83EDD43A-26D2-6AB8-8AD3-EF259C0F522E}"/>
              </a:ext>
            </a:extLst>
          </p:cNvPr>
          <p:cNvSpPr/>
          <p:nvPr/>
        </p:nvSpPr>
        <p:spPr>
          <a:xfrm flipH="1">
            <a:off x="10744200" y="3958923"/>
            <a:ext cx="1447800" cy="42361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</a:t>
            </a:r>
          </a:p>
          <a:p>
            <a:pPr algn="ctr"/>
            <a:r>
              <a:rPr lang="en-GB" sz="1200" dirty="0"/>
              <a:t>+ ICB Y sees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0F93991C-99C5-E168-4E09-FC37F1D2471B}"/>
              </a:ext>
            </a:extLst>
          </p:cNvPr>
          <p:cNvSpPr/>
          <p:nvPr/>
        </p:nvSpPr>
        <p:spPr>
          <a:xfrm flipH="1">
            <a:off x="10744200" y="5731811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B4CBC3A3-FA8C-7E49-DCFE-54F91CA08DF9}"/>
              </a:ext>
            </a:extLst>
          </p:cNvPr>
          <p:cNvSpPr/>
          <p:nvPr/>
        </p:nvSpPr>
        <p:spPr>
          <a:xfrm flipH="1">
            <a:off x="10744200" y="6197088"/>
            <a:ext cx="1447800" cy="42361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Y sees</a:t>
            </a:r>
          </a:p>
        </p:txBody>
      </p:sp>
    </p:spTree>
    <p:extLst>
      <p:ext uri="{BB962C8B-B14F-4D97-AF65-F5344CB8AC3E}">
        <p14:creationId xmlns:p14="http://schemas.microsoft.com/office/powerpoint/2010/main" val="957771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E919E-7682-5E90-7C8C-C92B3859D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2F3E8C-E0C0-1F15-5E21-3DCEE2159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346595"/>
              </p:ext>
            </p:extLst>
          </p:nvPr>
        </p:nvGraphicFramePr>
        <p:xfrm>
          <a:off x="1160978" y="1237534"/>
          <a:ext cx="987004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0006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2073928689"/>
                    </a:ext>
                  </a:extLst>
                </a:gridCol>
                <a:gridCol w="1410006">
                  <a:extLst>
                    <a:ext uri="{9D8B030D-6E8A-4147-A177-3AD203B41FA5}">
                      <a16:colId xmlns:a16="http://schemas.microsoft.com/office/drawing/2014/main" val="6769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(ICB)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(PRACTICE)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ICB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Practice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REC741852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2025-06-06 06:23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TPP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ICB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Practice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49753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84BDE3-6B68-1809-8C1B-BA58CC825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346067"/>
              </p:ext>
            </p:extLst>
          </p:nvPr>
        </p:nvGraphicFramePr>
        <p:xfrm>
          <a:off x="1160978" y="2705357"/>
          <a:ext cx="987004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H1234567890</a:t>
                      </a:r>
                      <a:endParaRPr lang="en-GB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REC789456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2025-06-06 07:56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4609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92787D-AFCA-58DF-7432-B8BE9C13BA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405620"/>
              </p:ext>
            </p:extLst>
          </p:nvPr>
        </p:nvGraphicFramePr>
        <p:xfrm>
          <a:off x="1160974" y="4827177"/>
          <a:ext cx="9870040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14:00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PATIENT_99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REC741852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REC987654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2025-06-06 06:23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28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REC741852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REC789456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2025-06-06 07:56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739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6924EC9-4870-E5F5-6330-ABB0D3049F99}"/>
              </a:ext>
            </a:extLst>
          </p:cNvPr>
          <p:cNvSpPr txBox="1"/>
          <p:nvPr/>
        </p:nvSpPr>
        <p:spPr>
          <a:xfrm>
            <a:off x="174661" y="256854"/>
            <a:ext cx="491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Scenario 4: Patient moves from ICB X to ICB 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196676-7A35-994F-5C8D-134C35D1C9FB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BCB737-57CA-F49F-BEC5-B9E49C3CE909}"/>
              </a:ext>
            </a:extLst>
          </p:cNvPr>
          <p:cNvSpPr txBox="1"/>
          <p:nvPr/>
        </p:nvSpPr>
        <p:spPr>
          <a:xfrm>
            <a:off x="565186" y="779342"/>
            <a:ext cx="8486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leaves practice A, and joins practice B – moving ICBs in the process. A whole new patient is received.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8A8702-6074-CBE9-64A9-C121F97F4C6C}"/>
              </a:ext>
            </a:extLst>
          </p:cNvPr>
          <p:cNvSpPr txBox="1"/>
          <p:nvPr/>
        </p:nvSpPr>
        <p:spPr>
          <a:xfrm>
            <a:off x="565184" y="2403453"/>
            <a:ext cx="826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A PDS response is received for the new patient record, with more up to date information about the person</a:t>
            </a:r>
            <a:endParaRPr lang="en-GB" sz="1400" i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369813-1482-7F6E-46CD-DB987E32D369}"/>
              </a:ext>
            </a:extLst>
          </p:cNvPr>
          <p:cNvSpPr txBox="1"/>
          <p:nvPr/>
        </p:nvSpPr>
        <p:spPr>
          <a:xfrm>
            <a:off x="565184" y="4246337"/>
            <a:ext cx="10465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The 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record is added to point </a:t>
            </a:r>
            <a:r>
              <a:rPr lang="en-GB" sz="1400" b="1" dirty="0">
                <a:solidFill>
                  <a:schemeClr val="bg1"/>
                </a:solidFill>
              </a:rPr>
              <a:t>only </a:t>
            </a:r>
            <a:r>
              <a:rPr lang="en-GB" sz="1400" dirty="0">
                <a:solidFill>
                  <a:schemeClr val="bg1"/>
                </a:solidFill>
              </a:rPr>
              <a:t>the new </a:t>
            </a:r>
            <a:r>
              <a:rPr lang="en-GB" sz="1400" b="1" dirty="0">
                <a:solidFill>
                  <a:schemeClr val="bg1"/>
                </a:solidFill>
              </a:rPr>
              <a:t>patient </a:t>
            </a:r>
            <a:r>
              <a:rPr lang="en-GB" sz="1400" dirty="0">
                <a:solidFill>
                  <a:schemeClr val="bg1"/>
                </a:solidFill>
              </a:rPr>
              <a:t>to the </a:t>
            </a:r>
            <a:r>
              <a:rPr lang="en-GB" sz="1400" b="1" dirty="0">
                <a:solidFill>
                  <a:schemeClr val="bg1"/>
                </a:solidFill>
              </a:rPr>
              <a:t>new person</a:t>
            </a:r>
            <a:r>
              <a:rPr lang="en-GB" sz="1400" dirty="0">
                <a:solidFill>
                  <a:schemeClr val="bg1"/>
                </a:solidFill>
              </a:rPr>
              <a:t> record.  The previous patient record must not link to the newer, more updated, person information.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2DF2EE9-9F64-0531-9AC5-F25E29D9ABCF}"/>
              </a:ext>
            </a:extLst>
          </p:cNvPr>
          <p:cNvSpPr/>
          <p:nvPr/>
        </p:nvSpPr>
        <p:spPr>
          <a:xfrm>
            <a:off x="1007086" y="6323714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B7EE6BA-FA1E-7554-0E85-E6B56595A36C}"/>
              </a:ext>
            </a:extLst>
          </p:cNvPr>
          <p:cNvSpPr/>
          <p:nvPr/>
        </p:nvSpPr>
        <p:spPr>
          <a:xfrm>
            <a:off x="1007086" y="3878838"/>
            <a:ext cx="307777" cy="3077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52AC17A8-ADBA-6C01-6337-F729EA359068}"/>
              </a:ext>
            </a:extLst>
          </p:cNvPr>
          <p:cNvSpPr/>
          <p:nvPr/>
        </p:nvSpPr>
        <p:spPr>
          <a:xfrm flipH="1">
            <a:off x="10697639" y="5542467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9E723A35-AB42-8C4E-A6E8-5FEBA11D9C0D}"/>
              </a:ext>
            </a:extLst>
          </p:cNvPr>
          <p:cNvSpPr/>
          <p:nvPr/>
        </p:nvSpPr>
        <p:spPr>
          <a:xfrm flipH="1">
            <a:off x="10697639" y="6265792"/>
            <a:ext cx="1447800" cy="42361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Y sees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2E73DA5-5404-7E14-0919-93F41120B26A}"/>
              </a:ext>
            </a:extLst>
          </p:cNvPr>
          <p:cNvSpPr/>
          <p:nvPr/>
        </p:nvSpPr>
        <p:spPr>
          <a:xfrm flipH="1">
            <a:off x="10744200" y="3401413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759D7B9A-FD66-6B1F-C377-C7811A2DD5D7}"/>
              </a:ext>
            </a:extLst>
          </p:cNvPr>
          <p:cNvSpPr/>
          <p:nvPr/>
        </p:nvSpPr>
        <p:spPr>
          <a:xfrm flipH="1">
            <a:off x="10744200" y="3852619"/>
            <a:ext cx="1447800" cy="42361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Y sees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97EA626E-51C3-915B-5598-0D6A51ADF29F}"/>
              </a:ext>
            </a:extLst>
          </p:cNvPr>
          <p:cNvSpPr/>
          <p:nvPr/>
        </p:nvSpPr>
        <p:spPr>
          <a:xfrm flipH="1">
            <a:off x="10744200" y="1505289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8F735968-6AA4-1950-8CB0-AA3358FAC659}"/>
              </a:ext>
            </a:extLst>
          </p:cNvPr>
          <p:cNvSpPr/>
          <p:nvPr/>
        </p:nvSpPr>
        <p:spPr>
          <a:xfrm flipH="1">
            <a:off x="10744200" y="1970566"/>
            <a:ext cx="1447800" cy="42361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Y sees</a:t>
            </a:r>
          </a:p>
        </p:txBody>
      </p:sp>
    </p:spTree>
    <p:extLst>
      <p:ext uri="{BB962C8B-B14F-4D97-AF65-F5344CB8AC3E}">
        <p14:creationId xmlns:p14="http://schemas.microsoft.com/office/powerpoint/2010/main" val="97017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286E1-1DA8-5F6A-2704-F2A6AF19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7A58AD-F02A-C198-3F43-6E3F6D8E8801}"/>
              </a:ext>
            </a:extLst>
          </p:cNvPr>
          <p:cNvSpPr txBox="1"/>
          <p:nvPr/>
        </p:nvSpPr>
        <p:spPr>
          <a:xfrm>
            <a:off x="174661" y="256854"/>
            <a:ext cx="1773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1" dirty="0">
                <a:solidFill>
                  <a:schemeClr val="bg1"/>
                </a:solidFill>
              </a:rPr>
              <a:t>Allocations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4D3AA6-A238-C8E4-F68C-601DA887DB06}"/>
              </a:ext>
            </a:extLst>
          </p:cNvPr>
          <p:cNvCxnSpPr>
            <a:cxnSpLocks/>
          </p:cNvCxnSpPr>
          <p:nvPr/>
        </p:nvCxnSpPr>
        <p:spPr>
          <a:xfrm>
            <a:off x="260386" y="724084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819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BAB03-B3FB-7786-8696-5E6296D7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BE32F4-D699-142D-447F-3AE8BB3FE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459004"/>
              </p:ext>
            </p:extLst>
          </p:nvPr>
        </p:nvGraphicFramePr>
        <p:xfrm>
          <a:off x="1160980" y="1899596"/>
          <a:ext cx="987004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H1234567890</a:t>
                      </a:r>
                      <a:endParaRPr lang="en-GB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REC789456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2025-06-06 07:56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4609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C8D045-37D9-4859-B25B-53457AAA929D}"/>
              </a:ext>
            </a:extLst>
          </p:cNvPr>
          <p:cNvGraphicFramePr>
            <a:graphicFrameLocks noGrp="1"/>
          </p:cNvGraphicFramePr>
          <p:nvPr/>
        </p:nvGraphicFramePr>
        <p:xfrm>
          <a:off x="1160974" y="4827177"/>
          <a:ext cx="9870040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008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974008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DATE_ACQUIRED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2025-02-02 14:00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PATIENT_99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REC741852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REC987654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2025-06-06 06:23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28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PATIENT_99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REC741852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REC789456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2025-06-06 07:56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739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7D7E45-C0A2-B671-31B5-D8751A02AB04}"/>
              </a:ext>
            </a:extLst>
          </p:cNvPr>
          <p:cNvSpPr txBox="1"/>
          <p:nvPr/>
        </p:nvSpPr>
        <p:spPr>
          <a:xfrm>
            <a:off x="174661" y="256854"/>
            <a:ext cx="276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Person record allocation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27B56B-01FB-2180-3117-ADDDE75A1CCD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344DA82-5713-C934-7498-E047CFF7E818}"/>
              </a:ext>
            </a:extLst>
          </p:cNvPr>
          <p:cNvSpPr txBox="1"/>
          <p:nvPr/>
        </p:nvSpPr>
        <p:spPr>
          <a:xfrm>
            <a:off x="565186" y="779342"/>
            <a:ext cx="9930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record-versions must be allocated on the bridging records that they link with. This requires a dedicated allocation logic.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A3DA26-5CB8-C043-3AD8-790E47C12130}"/>
              </a:ext>
            </a:extLst>
          </p:cNvPr>
          <p:cNvSpPr txBox="1"/>
          <p:nvPr/>
        </p:nvSpPr>
        <p:spPr>
          <a:xfrm>
            <a:off x="565184" y="1071929"/>
            <a:ext cx="10723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We want to allocate person records appropriately to the correct ICB.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In this scenario, we want ICB X to see the second record (they can optionally see the first record),  they should not see the third record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and ICB Y to see the third record (they can optionally see the second record), but they should not see the first record.</a:t>
            </a:r>
            <a:endParaRPr lang="en-GB" sz="1400" i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BF2AFE-44F5-2601-7782-6E773C03B4B4}"/>
              </a:ext>
            </a:extLst>
          </p:cNvPr>
          <p:cNvSpPr txBox="1"/>
          <p:nvPr/>
        </p:nvSpPr>
        <p:spPr>
          <a:xfrm>
            <a:off x="565184" y="3566944"/>
            <a:ext cx="10465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The 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table contains the information we need to correctly allocate the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It shows that the first person-record (REC123456) is linked to patient-record REC123456 only.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It shows that the second person-record (REC987654) is linked to patient-records REC123456 and R741852.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It shows that the third person-record (REC789456) is linked to patient-record REC741852 only.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2448A9-2662-6C68-BD74-FD58506DB0C5}"/>
              </a:ext>
            </a:extLst>
          </p:cNvPr>
          <p:cNvSpPr/>
          <p:nvPr/>
        </p:nvSpPr>
        <p:spPr>
          <a:xfrm>
            <a:off x="1007086" y="6323714"/>
            <a:ext cx="307777" cy="307777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8C560910-7D2F-95C0-D7B1-3316EA187869}"/>
              </a:ext>
            </a:extLst>
          </p:cNvPr>
          <p:cNvSpPr/>
          <p:nvPr/>
        </p:nvSpPr>
        <p:spPr>
          <a:xfrm flipH="1">
            <a:off x="10697639" y="5542467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6321472F-DB1D-3B63-C850-798B813B49F1}"/>
              </a:ext>
            </a:extLst>
          </p:cNvPr>
          <p:cNvSpPr/>
          <p:nvPr/>
        </p:nvSpPr>
        <p:spPr>
          <a:xfrm flipH="1">
            <a:off x="10697639" y="6265792"/>
            <a:ext cx="1447800" cy="42361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Y sees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82E9FA48-13A3-B9F0-C62C-4434219A2634}"/>
              </a:ext>
            </a:extLst>
          </p:cNvPr>
          <p:cNvSpPr/>
          <p:nvPr/>
        </p:nvSpPr>
        <p:spPr>
          <a:xfrm flipH="1">
            <a:off x="10744202" y="2595652"/>
            <a:ext cx="1447800" cy="4236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X sees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FA1C9CDA-12C5-1CF3-95B3-87BB027B95F6}"/>
              </a:ext>
            </a:extLst>
          </p:cNvPr>
          <p:cNvSpPr/>
          <p:nvPr/>
        </p:nvSpPr>
        <p:spPr>
          <a:xfrm flipH="1">
            <a:off x="10744202" y="3046858"/>
            <a:ext cx="1447800" cy="42361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What ICB Y sees</a:t>
            </a:r>
          </a:p>
        </p:txBody>
      </p:sp>
    </p:spTree>
    <p:extLst>
      <p:ext uri="{BB962C8B-B14F-4D97-AF65-F5344CB8AC3E}">
        <p14:creationId xmlns:p14="http://schemas.microsoft.com/office/powerpoint/2010/main" val="1193131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769CF-9915-8D06-9411-E5540F29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82DA98-5FD0-EE1F-267D-2BFDB03C5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389188"/>
              </p:ext>
            </p:extLst>
          </p:nvPr>
        </p:nvGraphicFramePr>
        <p:xfrm>
          <a:off x="927084" y="2820082"/>
          <a:ext cx="5791200" cy="1508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NHS_HASH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DATE</a:t>
                      </a:r>
                    </a:p>
                    <a:p>
                      <a:pPr algn="ctr"/>
                      <a:r>
                        <a:rPr lang="en-GB" sz="1000" dirty="0"/>
                        <a:t>ACQUIRED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(DATASET)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H1234567890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EMIS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H1234567890</a:t>
                      </a:r>
                      <a:endParaRPr lang="en-GB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2025-02-02 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81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H1234567890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REC789456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2025-06-06 07:56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PDS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4609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1B5ABD-3DF7-509F-62B7-5824D938A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122057"/>
              </p:ext>
            </p:extLst>
          </p:nvPr>
        </p:nvGraphicFramePr>
        <p:xfrm>
          <a:off x="5460985" y="4653650"/>
          <a:ext cx="5791200" cy="187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94643276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597802368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419792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PERSON_ID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PATIENT</a:t>
                      </a:r>
                    </a:p>
                    <a:p>
                      <a:pPr algn="ctr"/>
                      <a:r>
                        <a:rPr lang="en-GB" sz="10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PERSON</a:t>
                      </a:r>
                    </a:p>
                    <a:p>
                      <a:pPr algn="ctr"/>
                      <a:r>
                        <a:rPr lang="en-GB" sz="10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DATE</a:t>
                      </a:r>
                    </a:p>
                    <a:p>
                      <a:pPr algn="ctr"/>
                      <a:r>
                        <a:rPr lang="en-GB" sz="1000" dirty="0"/>
                        <a:t>ACQUIRED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PATIENT_01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REC123456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2025-02-02 12:00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PATIENT_01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REC987654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2025-02-02 14:00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83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PATIENT_99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PERSON_01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REC741852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REC987654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2025-06-06 06:23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28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PATIENT_99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PERSON_01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REC741852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REC789456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/>
                        <a:t>2025-06-06 07:56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739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E666D5-DF58-2246-F049-5B841AF6D984}"/>
              </a:ext>
            </a:extLst>
          </p:cNvPr>
          <p:cNvSpPr txBox="1"/>
          <p:nvPr/>
        </p:nvSpPr>
        <p:spPr>
          <a:xfrm>
            <a:off x="174661" y="256854"/>
            <a:ext cx="276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chemeClr val="bg1"/>
                </a:solidFill>
              </a:rPr>
              <a:t>Person record allocation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054749-4C6D-5906-A700-A0F1CB985D39}"/>
              </a:ext>
            </a:extLst>
          </p:cNvPr>
          <p:cNvCxnSpPr>
            <a:cxnSpLocks/>
          </p:cNvCxnSpPr>
          <p:nvPr/>
        </p:nvCxnSpPr>
        <p:spPr>
          <a:xfrm>
            <a:off x="247650" y="634215"/>
            <a:ext cx="667210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B13D41-9282-777B-62D5-06F17939813B}"/>
              </a:ext>
            </a:extLst>
          </p:cNvPr>
          <p:cNvSpPr txBox="1"/>
          <p:nvPr/>
        </p:nvSpPr>
        <p:spPr>
          <a:xfrm>
            <a:off x="495715" y="664119"/>
            <a:ext cx="9930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Person</a:t>
            </a:r>
            <a:r>
              <a:rPr lang="en-GB" sz="1400" dirty="0">
                <a:solidFill>
                  <a:schemeClr val="bg1"/>
                </a:solidFill>
              </a:rPr>
              <a:t> record-versions must be allocated on the bridging records that they link with. This requires a dedicated allocation logic.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B6DEC-1B2C-EB1E-CA62-3A0B9201307D}"/>
              </a:ext>
            </a:extLst>
          </p:cNvPr>
          <p:cNvSpPr txBox="1"/>
          <p:nvPr/>
        </p:nvSpPr>
        <p:spPr>
          <a:xfrm>
            <a:off x="495714" y="947629"/>
            <a:ext cx="115601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The bridging </a:t>
            </a:r>
            <a:r>
              <a:rPr lang="en-GB" sz="1400" b="1" dirty="0">
                <a:solidFill>
                  <a:schemeClr val="bg1"/>
                </a:solidFill>
              </a:rPr>
              <a:t>patient-person</a:t>
            </a:r>
            <a:r>
              <a:rPr lang="en-GB" sz="1400" dirty="0">
                <a:solidFill>
                  <a:schemeClr val="bg1"/>
                </a:solidFill>
              </a:rPr>
              <a:t> table contains the information we need to correctly allocate the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It shows that the first person-record (REC123456) is linked to patient-record REC123456 only.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It shows that the second person-record (REC987654) is linked to patient-records REC123456 and R741852.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It shows that the third person-record (REC789456) is linked to patient-record REC741852 only.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bg1"/>
              </a:solidFill>
            </a:endParaRPr>
          </a:p>
          <a:p>
            <a:r>
              <a:rPr lang="en-GB" sz="1400" dirty="0">
                <a:solidFill>
                  <a:schemeClr val="bg1"/>
                </a:solidFill>
              </a:rPr>
              <a:t>Note that this allocation does allow for distribution of the ‘current’ person record and, if available, historic records. Allocation logic can be adapted to use a row numbering window-function to ensure that only the latest record by acquired date is distributed from the set that is distributed to any given subscriber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32E48757-F1CA-190D-05B7-C7ACCC01B874}"/>
              </a:ext>
            </a:extLst>
          </p:cNvPr>
          <p:cNvSpPr/>
          <p:nvPr/>
        </p:nvSpPr>
        <p:spPr>
          <a:xfrm>
            <a:off x="1" y="3614401"/>
            <a:ext cx="1025544" cy="297419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ICB X sees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8D077069-3537-DA2B-3CF2-7A93610C45A9}"/>
              </a:ext>
            </a:extLst>
          </p:cNvPr>
          <p:cNvSpPr/>
          <p:nvPr/>
        </p:nvSpPr>
        <p:spPr>
          <a:xfrm>
            <a:off x="0" y="3992847"/>
            <a:ext cx="1025546" cy="312454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ICB Y sees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0C595D-EDAF-A0CB-3C7A-315602E4C1C3}"/>
              </a:ext>
            </a:extLst>
          </p:cNvPr>
          <p:cNvSpPr/>
          <p:nvPr/>
        </p:nvSpPr>
        <p:spPr>
          <a:xfrm>
            <a:off x="3362381" y="3275902"/>
            <a:ext cx="939762" cy="23592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9471A-77DA-A371-F0BF-E95ACF86554C}"/>
              </a:ext>
            </a:extLst>
          </p:cNvPr>
          <p:cNvSpPr/>
          <p:nvPr/>
        </p:nvSpPr>
        <p:spPr>
          <a:xfrm>
            <a:off x="9077308" y="5116514"/>
            <a:ext cx="869954" cy="23806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B100D-4D26-ECD5-6E18-7898F653D80C}"/>
              </a:ext>
            </a:extLst>
          </p:cNvPr>
          <p:cNvSpPr/>
          <p:nvPr/>
        </p:nvSpPr>
        <p:spPr>
          <a:xfrm>
            <a:off x="3362381" y="3645943"/>
            <a:ext cx="939762" cy="24682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B3DC14-CF43-B8FD-23D5-184324899537}"/>
              </a:ext>
            </a:extLst>
          </p:cNvPr>
          <p:cNvSpPr/>
          <p:nvPr/>
        </p:nvSpPr>
        <p:spPr>
          <a:xfrm>
            <a:off x="9077308" y="5472861"/>
            <a:ext cx="869954" cy="62300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3807AD-76EE-5A95-AE9F-3E1E8A563746}"/>
              </a:ext>
            </a:extLst>
          </p:cNvPr>
          <p:cNvSpPr/>
          <p:nvPr/>
        </p:nvSpPr>
        <p:spPr>
          <a:xfrm>
            <a:off x="3362381" y="4010026"/>
            <a:ext cx="939762" cy="25632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5F3C6C-1257-6803-E939-B5A29DBA7BD4}"/>
              </a:ext>
            </a:extLst>
          </p:cNvPr>
          <p:cNvSpPr/>
          <p:nvPr/>
        </p:nvSpPr>
        <p:spPr>
          <a:xfrm>
            <a:off x="9077308" y="6220497"/>
            <a:ext cx="869954" cy="27467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AE0BA9-EAD0-F6FA-CA79-94836E86B925}"/>
              </a:ext>
            </a:extLst>
          </p:cNvPr>
          <p:cNvSpPr/>
          <p:nvPr/>
        </p:nvSpPr>
        <p:spPr>
          <a:xfrm>
            <a:off x="7861283" y="5097464"/>
            <a:ext cx="990604" cy="623002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03105F-2CAC-61D7-DAEF-3ADBDD63AA32}"/>
              </a:ext>
            </a:extLst>
          </p:cNvPr>
          <p:cNvSpPr/>
          <p:nvPr/>
        </p:nvSpPr>
        <p:spPr>
          <a:xfrm>
            <a:off x="7861283" y="5872358"/>
            <a:ext cx="990604" cy="610108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BA6CC1-6D8E-412D-1BB2-23DB4D4AC0F4}"/>
              </a:ext>
            </a:extLst>
          </p:cNvPr>
          <p:cNvCxnSpPr>
            <a:cxnSpLocks/>
            <a:stCxn id="20" idx="1"/>
            <a:endCxn id="25" idx="3"/>
          </p:cNvCxnSpPr>
          <p:nvPr/>
        </p:nvCxnSpPr>
        <p:spPr>
          <a:xfrm flipH="1">
            <a:off x="5235564" y="5408965"/>
            <a:ext cx="2625719" cy="2116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FCA4D32-E08D-09D7-550C-B413371E5480}"/>
              </a:ext>
            </a:extLst>
          </p:cNvPr>
          <p:cNvCxnSpPr>
            <a:cxnSpLocks/>
            <a:stCxn id="21" idx="1"/>
            <a:endCxn id="26" idx="3"/>
          </p:cNvCxnSpPr>
          <p:nvPr/>
        </p:nvCxnSpPr>
        <p:spPr>
          <a:xfrm flipH="1" flipV="1">
            <a:off x="5235564" y="6176841"/>
            <a:ext cx="2625719" cy="57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9A6A32F-8C87-BE3C-BF11-B31A69B1A111}"/>
              </a:ext>
            </a:extLst>
          </p:cNvPr>
          <p:cNvSpPr/>
          <p:nvPr/>
        </p:nvSpPr>
        <p:spPr>
          <a:xfrm>
            <a:off x="4020451" y="5211066"/>
            <a:ext cx="1215113" cy="43811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Patient allocation IDs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F1F6A0-9A3F-F2BD-EC74-8518B3EE5BFB}"/>
              </a:ext>
            </a:extLst>
          </p:cNvPr>
          <p:cNvSpPr/>
          <p:nvPr/>
        </p:nvSpPr>
        <p:spPr>
          <a:xfrm>
            <a:off x="4020451" y="5957782"/>
            <a:ext cx="1215113" cy="43811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Patient allocation IDs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2A58CD9-DA42-4648-E085-D7FDAF000381}"/>
              </a:ext>
            </a:extLst>
          </p:cNvPr>
          <p:cNvCxnSpPr>
            <a:cxnSpLocks/>
            <a:stCxn id="2" idx="3"/>
            <a:endCxn id="3" idx="3"/>
          </p:cNvCxnSpPr>
          <p:nvPr/>
        </p:nvCxnSpPr>
        <p:spPr>
          <a:xfrm>
            <a:off x="4302143" y="3393866"/>
            <a:ext cx="5645119" cy="1841679"/>
          </a:xfrm>
          <a:prstGeom prst="bentConnector3">
            <a:avLst>
              <a:gd name="adj1" fmla="val 104050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AE763F6-8B56-58CC-4F6B-F1F31BEA878B}"/>
              </a:ext>
            </a:extLst>
          </p:cNvPr>
          <p:cNvCxnSpPr>
            <a:cxnSpLocks/>
            <a:stCxn id="4" idx="3"/>
            <a:endCxn id="14" idx="3"/>
          </p:cNvCxnSpPr>
          <p:nvPr/>
        </p:nvCxnSpPr>
        <p:spPr>
          <a:xfrm>
            <a:off x="4302143" y="3769357"/>
            <a:ext cx="5645119" cy="2015005"/>
          </a:xfrm>
          <a:prstGeom prst="bentConnector3">
            <a:avLst>
              <a:gd name="adj1" fmla="val 109179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2B81276-F8E6-99E2-EDDA-FB696C769B8B}"/>
              </a:ext>
            </a:extLst>
          </p:cNvPr>
          <p:cNvCxnSpPr>
            <a:cxnSpLocks/>
            <a:stCxn id="18" idx="3"/>
            <a:endCxn id="19" idx="3"/>
          </p:cNvCxnSpPr>
          <p:nvPr/>
        </p:nvCxnSpPr>
        <p:spPr>
          <a:xfrm>
            <a:off x="4302143" y="4138186"/>
            <a:ext cx="5645119" cy="2219646"/>
          </a:xfrm>
          <a:prstGeom prst="bentConnector3">
            <a:avLst>
              <a:gd name="adj1" fmla="val 114309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2296EFE9-93BF-04EE-FE2C-EBE8D3190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352522"/>
              </p:ext>
            </p:extLst>
          </p:nvPr>
        </p:nvGraphicFramePr>
        <p:xfrm>
          <a:off x="927084" y="5064321"/>
          <a:ext cx="2316480" cy="11125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1673491443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672535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RECORD_ID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SUBSCRIBER_ID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66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REC123456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ICB 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REC741852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ICB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287619"/>
                  </a:ext>
                </a:extLst>
              </a:tr>
            </a:tbl>
          </a:graphicData>
        </a:graphic>
      </p:graphicFrame>
      <p:sp>
        <p:nvSpPr>
          <p:cNvPr id="77" name="Rectangle 76">
            <a:extLst>
              <a:ext uri="{FF2B5EF4-FFF2-40B4-BE49-F238E27FC236}">
                <a16:creationId xmlns:a16="http://schemas.microsoft.com/office/drawing/2014/main" id="{3A8D33EB-95C8-AA6F-9D82-22BB5B8FB06F}"/>
              </a:ext>
            </a:extLst>
          </p:cNvPr>
          <p:cNvSpPr/>
          <p:nvPr/>
        </p:nvSpPr>
        <p:spPr>
          <a:xfrm>
            <a:off x="1056083" y="5508828"/>
            <a:ext cx="2078060" cy="223505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016BDEB-DD3D-08B6-FE95-2D7B28A1BBC0}"/>
              </a:ext>
            </a:extLst>
          </p:cNvPr>
          <p:cNvSpPr/>
          <p:nvPr/>
        </p:nvSpPr>
        <p:spPr>
          <a:xfrm>
            <a:off x="1056082" y="5853603"/>
            <a:ext cx="2078059" cy="252518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2D39ADD-3209-6D95-586F-B6975B71A186}"/>
              </a:ext>
            </a:extLst>
          </p:cNvPr>
          <p:cNvCxnSpPr>
            <a:cxnSpLocks/>
            <a:stCxn id="25" idx="1"/>
            <a:endCxn id="77" idx="3"/>
          </p:cNvCxnSpPr>
          <p:nvPr/>
        </p:nvCxnSpPr>
        <p:spPr>
          <a:xfrm flipH="1">
            <a:off x="3134143" y="5430125"/>
            <a:ext cx="886308" cy="190456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4E6B03-952D-5AFA-0C33-ADF7F7086A39}"/>
              </a:ext>
            </a:extLst>
          </p:cNvPr>
          <p:cNvCxnSpPr>
            <a:cxnSpLocks/>
            <a:stCxn id="26" idx="1"/>
            <a:endCxn id="78" idx="3"/>
          </p:cNvCxnSpPr>
          <p:nvPr/>
        </p:nvCxnSpPr>
        <p:spPr>
          <a:xfrm flipH="1" flipV="1">
            <a:off x="3134141" y="5979862"/>
            <a:ext cx="886310" cy="196979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9A0F8838-3AAF-CFEB-F15E-75AA4F83A293}"/>
              </a:ext>
            </a:extLst>
          </p:cNvPr>
          <p:cNvSpPr/>
          <p:nvPr/>
        </p:nvSpPr>
        <p:spPr>
          <a:xfrm>
            <a:off x="3158" y="5831588"/>
            <a:ext cx="1108493" cy="29654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ICB Y sees</a:t>
            </a:r>
          </a:p>
        </p:txBody>
      </p:sp>
      <p:sp>
        <p:nvSpPr>
          <p:cNvPr id="87" name="Arrow: Pentagon 86">
            <a:extLst>
              <a:ext uri="{FF2B5EF4-FFF2-40B4-BE49-F238E27FC236}">
                <a16:creationId xmlns:a16="http://schemas.microsoft.com/office/drawing/2014/main" id="{28B3E872-6BAD-0D38-30F6-91C67569364C}"/>
              </a:ext>
            </a:extLst>
          </p:cNvPr>
          <p:cNvSpPr/>
          <p:nvPr/>
        </p:nvSpPr>
        <p:spPr>
          <a:xfrm>
            <a:off x="3158" y="5464320"/>
            <a:ext cx="1108493" cy="296548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ICB X sees</a:t>
            </a:r>
          </a:p>
        </p:txBody>
      </p:sp>
    </p:spTree>
    <p:extLst>
      <p:ext uri="{BB962C8B-B14F-4D97-AF65-F5344CB8AC3E}">
        <p14:creationId xmlns:p14="http://schemas.microsoft.com/office/powerpoint/2010/main" val="2941796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3437</Words>
  <Application>Microsoft Office PowerPoint</Application>
  <PresentationFormat>Widescreen</PresentationFormat>
  <Paragraphs>855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Wood</dc:creator>
  <cp:lastModifiedBy>Bill Wood</cp:lastModifiedBy>
  <cp:revision>2</cp:revision>
  <dcterms:created xsi:type="dcterms:W3CDTF">2025-11-07T09:53:33Z</dcterms:created>
  <dcterms:modified xsi:type="dcterms:W3CDTF">2025-11-19T10:16:25Z</dcterms:modified>
</cp:coreProperties>
</file>